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2624e70d6_0_1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2624e70d6_0_1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77e9635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77e9635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77e96357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77e96357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77e96357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77e96357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77e96357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77e96357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f0fddd867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f0fddd867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77e96357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77e96357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77e96357d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77e96357d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77e96357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77e96357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77e96357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77e96357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77e96357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77e96357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77e96357d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77e96357d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77e96357d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d77e96357d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77e96357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d77e96357d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77e96357d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d77e96357d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77e96357d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d77e96357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77e96357d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d77e96357d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77e96357d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d77e96357d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77e96357d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d77e96357d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d77e96357d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d77e96357d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77e96357d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d77e96357d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d77e96357d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d77e96357d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77e96357d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d77e96357d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heatheralicia.com" TargetMode="External"/><Relationship Id="rId4" Type="http://schemas.openxmlformats.org/officeDocument/2006/relationships/hyperlink" Target="https://joshuasolano.com" TargetMode="External"/><Relationship Id="rId5" Type="http://schemas.openxmlformats.org/officeDocument/2006/relationships/hyperlink" Target="https://tannerbriggsresume.netlify.app/" TargetMode="External"/><Relationship Id="rId6" Type="http://schemas.openxmlformats.org/officeDocument/2006/relationships/hyperlink" Target="https://www.eddyog.com/" TargetMode="External"/><Relationship Id="rId7" Type="http://schemas.openxmlformats.org/officeDocument/2006/relationships/hyperlink" Target="https://www.calebbradshaw.dev" TargetMode="External"/><Relationship Id="rId8" Type="http://schemas.openxmlformats.org/officeDocument/2006/relationships/hyperlink" Target="https://bradenstevens.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Consolas"/>
                <a:ea typeface="Consolas"/>
                <a:cs typeface="Consolas"/>
                <a:sym typeface="Consolas"/>
              </a:rPr>
              <a:t>IS 120</a:t>
            </a:r>
            <a:endParaRPr>
              <a:latin typeface="Consolas"/>
              <a:ea typeface="Consolas"/>
              <a:cs typeface="Consolas"/>
              <a:sym typeface="Consolas"/>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Consolas"/>
                <a:ea typeface="Consolas"/>
                <a:cs typeface="Consolas"/>
                <a:sym typeface="Consolas"/>
              </a:rPr>
              <a:t>Intro to JavaScript</a:t>
            </a:r>
            <a:endParaRPr>
              <a:latin typeface="Consolas"/>
              <a:ea typeface="Consolas"/>
              <a:cs typeface="Consolas"/>
              <a:sym typeface="Consola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“Quiet Hiring”</a:t>
            </a:r>
            <a:endParaRPr>
              <a:latin typeface="Consolas"/>
              <a:ea typeface="Consolas"/>
              <a:cs typeface="Consolas"/>
              <a:sym typeface="Consolas"/>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Consolas"/>
                <a:ea typeface="Consolas"/>
                <a:cs typeface="Consolas"/>
                <a:sym typeface="Consolas"/>
              </a:rPr>
              <a:t>Companies are shifting away from posting jobs on career sites, and instead having recruiters do cold outreach in fields where the number of applicants far surpasses the open jobs.</a:t>
            </a:r>
            <a:endParaRPr>
              <a:latin typeface="Consolas"/>
              <a:ea typeface="Consolas"/>
              <a:cs typeface="Consolas"/>
              <a:sym typeface="Consolas"/>
            </a:endParaRPr>
          </a:p>
          <a:p>
            <a:pPr indent="0" lvl="0" marL="0" rtl="0" algn="l">
              <a:spcBef>
                <a:spcPts val="1000"/>
              </a:spcBef>
              <a:spcAft>
                <a:spcPts val="1000"/>
              </a:spcAft>
              <a:buNone/>
            </a:pPr>
            <a:r>
              <a:rPr lang="en">
                <a:latin typeface="Consolas"/>
                <a:ea typeface="Consolas"/>
                <a:cs typeface="Consolas"/>
                <a:sym typeface="Consolas"/>
              </a:rPr>
              <a:t>To succeed, job seekers have to market themselves by posting about their projects and thoughts on LinkedIn.</a:t>
            </a:r>
            <a:endParaRPr>
              <a:latin typeface="Consolas"/>
              <a:ea typeface="Consolas"/>
              <a:cs typeface="Consolas"/>
              <a:sym typeface="Consola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“Quiet Hiring”</a:t>
            </a:r>
            <a:endParaRPr>
              <a:latin typeface="Consolas"/>
              <a:ea typeface="Consolas"/>
              <a:cs typeface="Consolas"/>
              <a:sym typeface="Consolas"/>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u="sng">
                <a:solidFill>
                  <a:schemeClr val="hlink"/>
                </a:solidFill>
                <a:latin typeface="Consolas"/>
                <a:ea typeface="Consolas"/>
                <a:cs typeface="Consolas"/>
                <a:sym typeface="Consolas"/>
                <a:hlinkClick r:id="rId3"/>
              </a:rPr>
              <a:t>https://heatheralicia.com</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u="sng">
                <a:solidFill>
                  <a:schemeClr val="hlink"/>
                </a:solidFill>
                <a:latin typeface="Consolas"/>
                <a:ea typeface="Consolas"/>
                <a:cs typeface="Consolas"/>
                <a:sym typeface="Consolas"/>
                <a:hlinkClick r:id="rId4"/>
              </a:rPr>
              <a:t>https://joshuasolano.com</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u="sng">
                <a:solidFill>
                  <a:schemeClr val="hlink"/>
                </a:solidFill>
                <a:latin typeface="Consolas"/>
                <a:ea typeface="Consolas"/>
                <a:cs typeface="Consolas"/>
                <a:sym typeface="Consolas"/>
                <a:hlinkClick r:id="rId5"/>
              </a:rPr>
              <a:t>https://tannerbriggsresume.netlify.app/</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u="sng">
                <a:solidFill>
                  <a:schemeClr val="hlink"/>
                </a:solidFill>
                <a:latin typeface="Consolas"/>
                <a:ea typeface="Consolas"/>
                <a:cs typeface="Consolas"/>
                <a:sym typeface="Consolas"/>
                <a:hlinkClick r:id="rId6"/>
              </a:rPr>
              <a:t>https://www.eddyog.com/</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u="sng">
                <a:solidFill>
                  <a:schemeClr val="hlink"/>
                </a:solidFill>
                <a:latin typeface="Consolas"/>
                <a:ea typeface="Consolas"/>
                <a:cs typeface="Consolas"/>
                <a:sym typeface="Consolas"/>
                <a:hlinkClick r:id="rId7"/>
              </a:rPr>
              <a:t>https://www.calebbradshaw.dev</a:t>
            </a:r>
            <a:endParaRPr>
              <a:latin typeface="Consolas"/>
              <a:ea typeface="Consolas"/>
              <a:cs typeface="Consolas"/>
              <a:sym typeface="Consolas"/>
            </a:endParaRPr>
          </a:p>
          <a:p>
            <a:pPr indent="-342900" lvl="0" marL="457200" rtl="0" algn="l">
              <a:spcBef>
                <a:spcPts val="1000"/>
              </a:spcBef>
              <a:spcAft>
                <a:spcPts val="1000"/>
              </a:spcAft>
              <a:buSzPts val="1800"/>
              <a:buFont typeface="Consolas"/>
              <a:buChar char="-"/>
            </a:pPr>
            <a:r>
              <a:rPr lang="en" u="sng">
                <a:solidFill>
                  <a:schemeClr val="hlink"/>
                </a:solidFill>
                <a:latin typeface="Consolas"/>
                <a:ea typeface="Consolas"/>
                <a:cs typeface="Consolas"/>
                <a:sym typeface="Consolas"/>
                <a:hlinkClick r:id="rId8"/>
              </a:rPr>
              <a:t>https://bradenstevens.com/</a:t>
            </a:r>
            <a:endParaRPr>
              <a:latin typeface="Consolas"/>
              <a:ea typeface="Consolas"/>
              <a:cs typeface="Consolas"/>
              <a:sym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“Quiet Hiring”</a:t>
            </a:r>
            <a:endParaRPr>
              <a:latin typeface="Consolas"/>
              <a:ea typeface="Consolas"/>
              <a:cs typeface="Consolas"/>
              <a:sym typeface="Consolas"/>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Create a website</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Create a LinkedIn</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Post </a:t>
            </a:r>
            <a:r>
              <a:rPr lang="en">
                <a:latin typeface="Consolas"/>
                <a:ea typeface="Consolas"/>
                <a:cs typeface="Consolas"/>
                <a:sym typeface="Consolas"/>
              </a:rPr>
              <a:t>2-3 times a semester about what you’re working on</a:t>
            </a:r>
            <a:endParaRPr>
              <a:latin typeface="Consolas"/>
              <a:ea typeface="Consolas"/>
              <a:cs typeface="Consolas"/>
              <a:sym typeface="Consolas"/>
            </a:endParaRPr>
          </a:p>
          <a:p>
            <a:pPr indent="0" lvl="0" marL="0" rtl="0" algn="l">
              <a:spcBef>
                <a:spcPts val="1000"/>
              </a:spcBef>
              <a:spcAft>
                <a:spcPts val="1000"/>
              </a:spcAft>
              <a:buNone/>
            </a:pPr>
            <a:r>
              <a:t/>
            </a:r>
            <a:endParaRPr>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Final Project</a:t>
            </a:r>
            <a:endParaRPr>
              <a:latin typeface="Consolas"/>
              <a:ea typeface="Consolas"/>
              <a:cs typeface="Consolas"/>
              <a:sym typeface="Consolas"/>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Project 3 will be your last “programming” project</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Your Final Project might involve...</a:t>
            </a:r>
            <a:endParaRPr>
              <a:latin typeface="Consolas"/>
              <a:ea typeface="Consolas"/>
              <a:cs typeface="Consolas"/>
              <a:sym typeface="Consolas"/>
            </a:endParaRPr>
          </a:p>
          <a:p>
            <a:pPr indent="-342900" lvl="1" marL="914400" rtl="0" algn="l">
              <a:spcBef>
                <a:spcPts val="1000"/>
              </a:spcBef>
              <a:spcAft>
                <a:spcPts val="0"/>
              </a:spcAft>
              <a:buSzPts val="1800"/>
              <a:buFont typeface="Consolas"/>
              <a:buChar char="-"/>
            </a:pPr>
            <a:r>
              <a:rPr lang="en" sz="1800">
                <a:latin typeface="Consolas"/>
                <a:ea typeface="Consolas"/>
                <a:cs typeface="Consolas"/>
                <a:sym typeface="Consolas"/>
              </a:rPr>
              <a:t>Updating and posting on LinkedIn</a:t>
            </a:r>
            <a:endParaRPr sz="1800">
              <a:latin typeface="Consolas"/>
              <a:ea typeface="Consolas"/>
              <a:cs typeface="Consolas"/>
              <a:sym typeface="Consolas"/>
            </a:endParaRPr>
          </a:p>
          <a:p>
            <a:pPr indent="-342900" lvl="1" marL="914400" rtl="0" algn="l">
              <a:spcBef>
                <a:spcPts val="1000"/>
              </a:spcBef>
              <a:spcAft>
                <a:spcPts val="0"/>
              </a:spcAft>
              <a:buSzPts val="1800"/>
              <a:buFont typeface="Consolas"/>
              <a:buChar char="-"/>
            </a:pPr>
            <a:r>
              <a:rPr lang="en" sz="1800">
                <a:latin typeface="Consolas"/>
                <a:ea typeface="Consolas"/>
                <a:cs typeface="Consolas"/>
                <a:sym typeface="Consolas"/>
              </a:rPr>
              <a:t>Updating your resume</a:t>
            </a:r>
            <a:endParaRPr sz="1800">
              <a:latin typeface="Consolas"/>
              <a:ea typeface="Consolas"/>
              <a:cs typeface="Consolas"/>
              <a:sym typeface="Consolas"/>
            </a:endParaRPr>
          </a:p>
          <a:p>
            <a:pPr indent="-342900" lvl="1" marL="914400" rtl="0" algn="l">
              <a:spcBef>
                <a:spcPts val="1000"/>
              </a:spcBef>
              <a:spcAft>
                <a:spcPts val="0"/>
              </a:spcAft>
              <a:buSzPts val="1800"/>
              <a:buFont typeface="Consolas"/>
              <a:buChar char="-"/>
            </a:pPr>
            <a:r>
              <a:rPr lang="en" sz="1800">
                <a:latin typeface="Consolas"/>
                <a:ea typeface="Consolas"/>
                <a:cs typeface="Consolas"/>
                <a:sym typeface="Consolas"/>
              </a:rPr>
              <a:t>Plan for applying to jobs and projects</a:t>
            </a:r>
            <a:endParaRPr sz="1800">
              <a:latin typeface="Consolas"/>
              <a:ea typeface="Consolas"/>
              <a:cs typeface="Consolas"/>
              <a:sym typeface="Consolas"/>
            </a:endParaRPr>
          </a:p>
          <a:p>
            <a:pPr indent="-342900" lvl="1" marL="914400" rtl="0" algn="l">
              <a:spcBef>
                <a:spcPts val="1000"/>
              </a:spcBef>
              <a:spcAft>
                <a:spcPts val="1000"/>
              </a:spcAft>
              <a:buSzPts val="1800"/>
              <a:buFont typeface="Consolas"/>
              <a:buChar char="-"/>
            </a:pPr>
            <a:r>
              <a:rPr lang="en" sz="1800">
                <a:latin typeface="Consolas"/>
                <a:ea typeface="Consolas"/>
                <a:cs typeface="Consolas"/>
                <a:sym typeface="Consolas"/>
              </a:rPr>
              <a:t>Identifying new things you want to learn over the summer</a:t>
            </a:r>
            <a:endParaRPr>
              <a:latin typeface="Consolas"/>
              <a:ea typeface="Consolas"/>
              <a:cs typeface="Consolas"/>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Pair Programming Follow Up</a:t>
            </a:r>
            <a:endParaRPr>
              <a:latin typeface="Consolas"/>
              <a:ea typeface="Consolas"/>
              <a:cs typeface="Consolas"/>
              <a:sym typeface="Consolas"/>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Apple Nav Expand on Hover</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Figma Auto Scroll Carousel</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1000"/>
              </a:spcAft>
              <a:buSzPts val="1800"/>
              <a:buFont typeface="Consolas"/>
              <a:buChar char="-"/>
            </a:pPr>
            <a:r>
              <a:rPr lang="en">
                <a:latin typeface="Consolas"/>
                <a:ea typeface="Consolas"/>
                <a:cs typeface="Consolas"/>
                <a:sym typeface="Consolas"/>
              </a:rPr>
              <a:t>Rotating Title</a:t>
            </a:r>
            <a:endParaRPr sz="1800">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Reverse Engineering</a:t>
            </a:r>
            <a:endParaRPr>
              <a:latin typeface="Consolas"/>
              <a:ea typeface="Consolas"/>
              <a:cs typeface="Consolas"/>
              <a:sym typeface="Consolas"/>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Use AI to figure out the pieces of the problem you don’t understand, not to give you a complete solution</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Think of it as researching what tools are available</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1000"/>
              </a:spcAft>
              <a:buSzPts val="1800"/>
              <a:buFont typeface="Consolas"/>
              <a:buChar char="-"/>
            </a:pPr>
            <a:r>
              <a:rPr lang="en">
                <a:latin typeface="Consolas"/>
                <a:ea typeface="Consolas"/>
                <a:cs typeface="Consolas"/>
                <a:sym typeface="Consolas"/>
              </a:rPr>
              <a:t>As a programmer, your most important skill is not remembering specific syntax, it’s understanding how to solve a problem</a:t>
            </a:r>
            <a:endParaRPr>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Reverse Engineering</a:t>
            </a:r>
            <a:endParaRPr>
              <a:latin typeface="Consolas"/>
              <a:ea typeface="Consolas"/>
              <a:cs typeface="Consolas"/>
              <a:sym typeface="Consolas"/>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Figma Example:</a:t>
            </a:r>
            <a:endParaRPr>
              <a:latin typeface="Consolas"/>
              <a:ea typeface="Consolas"/>
              <a:cs typeface="Consolas"/>
              <a:sym typeface="Consolas"/>
            </a:endParaRPr>
          </a:p>
          <a:p>
            <a:pPr indent="-342900" lvl="1" marL="914400" rtl="0" algn="l">
              <a:spcBef>
                <a:spcPts val="1000"/>
              </a:spcBef>
              <a:spcAft>
                <a:spcPts val="0"/>
              </a:spcAft>
              <a:buSzPts val="1800"/>
              <a:buFont typeface="Consolas"/>
              <a:buChar char="-"/>
            </a:pPr>
            <a:r>
              <a:rPr lang="en" sz="1800">
                <a:latin typeface="Consolas"/>
                <a:ea typeface="Consolas"/>
                <a:cs typeface="Consolas"/>
                <a:sym typeface="Consolas"/>
              </a:rPr>
              <a:t>This needs to rotate infinitely, so let’s just transform it to the left and put it on an infinite loop. Now let’s try to make that look seamless instead of jumping around.</a:t>
            </a:r>
            <a:endParaRPr sz="1800">
              <a:latin typeface="Consolas"/>
              <a:ea typeface="Consolas"/>
              <a:cs typeface="Consolas"/>
              <a:sym typeface="Consolas"/>
            </a:endParaRPr>
          </a:p>
          <a:p>
            <a:pPr indent="-342900" lvl="1" marL="914400" rtl="0" algn="l">
              <a:spcBef>
                <a:spcPts val="1000"/>
              </a:spcBef>
              <a:spcAft>
                <a:spcPts val="1000"/>
              </a:spcAft>
              <a:buSzPts val="1800"/>
              <a:buFont typeface="Consolas"/>
              <a:buChar char="-"/>
            </a:pPr>
            <a:r>
              <a:rPr lang="en" sz="1800">
                <a:latin typeface="Consolas"/>
                <a:ea typeface="Consolas"/>
                <a:cs typeface="Consolas"/>
                <a:sym typeface="Consolas"/>
              </a:rPr>
              <a:t>I know we need to stop this animation at a certain state, probably on :hover. </a:t>
            </a:r>
            <a:r>
              <a:rPr b="1" lang="en" sz="1800">
                <a:latin typeface="Consolas"/>
                <a:ea typeface="Consolas"/>
                <a:cs typeface="Consolas"/>
                <a:sym typeface="Consolas"/>
              </a:rPr>
              <a:t>How do we stop an animation?</a:t>
            </a:r>
            <a:endParaRPr sz="1800">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What is JavaScript?</a:t>
            </a:r>
            <a:endParaRPr>
              <a:latin typeface="Consolas"/>
              <a:ea typeface="Consolas"/>
              <a:cs typeface="Consolas"/>
              <a:sym typeface="Consolas"/>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The main language of the web</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Makes websites interactive</a:t>
            </a:r>
            <a:endParaRPr>
              <a:latin typeface="Consolas"/>
              <a:ea typeface="Consolas"/>
              <a:cs typeface="Consolas"/>
              <a:sym typeface="Consolas"/>
            </a:endParaRPr>
          </a:p>
          <a:p>
            <a:pPr indent="-342900" lvl="0" marL="457200" rtl="0" algn="l">
              <a:spcBef>
                <a:spcPts val="1000"/>
              </a:spcBef>
              <a:spcAft>
                <a:spcPts val="1000"/>
              </a:spcAft>
              <a:buSzPts val="1800"/>
              <a:buFont typeface="Consolas"/>
              <a:buChar char="-"/>
            </a:pPr>
            <a:r>
              <a:rPr lang="en">
                <a:latin typeface="Consolas"/>
                <a:ea typeface="Consolas"/>
                <a:cs typeface="Consolas"/>
                <a:sym typeface="Consolas"/>
              </a:rPr>
              <a:t>The most widely used programming language</a:t>
            </a:r>
            <a:endParaRPr>
              <a:latin typeface="Consolas"/>
              <a:ea typeface="Consolas"/>
              <a:cs typeface="Consolas"/>
              <a:sym typeface="Consolas"/>
            </a:endParaRPr>
          </a:p>
        </p:txBody>
      </p:sp>
      <p:pic>
        <p:nvPicPr>
          <p:cNvPr id="104" name="Google Shape;104;p21" title="Screenshot 2026-03-16 at 10.51.12 AM.png"/>
          <p:cNvPicPr preferRelativeResize="0"/>
          <p:nvPr/>
        </p:nvPicPr>
        <p:blipFill>
          <a:blip r:embed="rId3">
            <a:alphaModFix/>
          </a:blip>
          <a:stretch>
            <a:fillRect/>
          </a:stretch>
        </p:blipFill>
        <p:spPr>
          <a:xfrm>
            <a:off x="311700" y="2657802"/>
            <a:ext cx="8520601" cy="191107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What is JavaScript?</a:t>
            </a:r>
            <a:endParaRPr>
              <a:latin typeface="Consolas"/>
              <a:ea typeface="Consolas"/>
              <a:cs typeface="Consolas"/>
              <a:sym typeface="Consolas"/>
            </a:endParaRPr>
          </a:p>
        </p:txBody>
      </p:sp>
      <p:sp>
        <p:nvSpPr>
          <p:cNvPr id="110" name="Google Shape;11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Originally meant for browsers and web pages, but is widely used for other various platforms</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Backend Servers</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Desktop Apps</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Mobile Apps</a:t>
            </a:r>
            <a:endParaRPr>
              <a:latin typeface="Consolas"/>
              <a:ea typeface="Consolas"/>
              <a:cs typeface="Consolas"/>
              <a:sym typeface="Consolas"/>
            </a:endParaRPr>
          </a:p>
          <a:p>
            <a:pPr indent="-342900" lvl="0" marL="457200" rtl="0" algn="l">
              <a:spcBef>
                <a:spcPts val="1000"/>
              </a:spcBef>
              <a:spcAft>
                <a:spcPts val="1000"/>
              </a:spcAft>
              <a:buSzPts val="1800"/>
              <a:buFont typeface="Consolas"/>
              <a:buChar char="-"/>
            </a:pPr>
            <a:r>
              <a:rPr lang="en">
                <a:latin typeface="Consolas"/>
                <a:ea typeface="Consolas"/>
                <a:cs typeface="Consolas"/>
                <a:sym typeface="Consolas"/>
              </a:rPr>
              <a:t>Games</a:t>
            </a:r>
            <a:endParaRPr>
              <a:latin typeface="Consolas"/>
              <a:ea typeface="Consolas"/>
              <a:cs typeface="Consolas"/>
              <a:sym typeface="Consolas"/>
            </a:endParaRPr>
          </a:p>
        </p:txBody>
      </p:sp>
      <p:pic>
        <p:nvPicPr>
          <p:cNvPr id="111" name="Google Shape;111;p22"/>
          <p:cNvPicPr preferRelativeResize="0"/>
          <p:nvPr/>
        </p:nvPicPr>
        <p:blipFill>
          <a:blip r:embed="rId3">
            <a:alphaModFix/>
          </a:blip>
          <a:stretch>
            <a:fillRect/>
          </a:stretch>
        </p:blipFill>
        <p:spPr>
          <a:xfrm>
            <a:off x="6604733" y="3320324"/>
            <a:ext cx="1691802" cy="1356399"/>
          </a:xfrm>
          <a:prstGeom prst="rect">
            <a:avLst/>
          </a:prstGeom>
          <a:noFill/>
          <a:ln>
            <a:noFill/>
          </a:ln>
        </p:spPr>
      </p:pic>
      <p:pic>
        <p:nvPicPr>
          <p:cNvPr id="112" name="Google Shape;112;p22"/>
          <p:cNvPicPr preferRelativeResize="0"/>
          <p:nvPr/>
        </p:nvPicPr>
        <p:blipFill>
          <a:blip r:embed="rId4">
            <a:alphaModFix/>
          </a:blip>
          <a:stretch>
            <a:fillRect/>
          </a:stretch>
        </p:blipFill>
        <p:spPr>
          <a:xfrm>
            <a:off x="4465075" y="2278600"/>
            <a:ext cx="2008350" cy="2008350"/>
          </a:xfrm>
          <a:prstGeom prst="rect">
            <a:avLst/>
          </a:prstGeom>
          <a:noFill/>
          <a:ln>
            <a:noFill/>
          </a:ln>
        </p:spPr>
      </p:pic>
      <p:pic>
        <p:nvPicPr>
          <p:cNvPr id="113" name="Google Shape;113;p22"/>
          <p:cNvPicPr preferRelativeResize="0"/>
          <p:nvPr/>
        </p:nvPicPr>
        <p:blipFill>
          <a:blip r:embed="rId5">
            <a:alphaModFix/>
          </a:blip>
          <a:stretch>
            <a:fillRect/>
          </a:stretch>
        </p:blipFill>
        <p:spPr>
          <a:xfrm>
            <a:off x="6473425" y="1584475"/>
            <a:ext cx="1691800" cy="1691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What is JavaScript?</a:t>
            </a:r>
            <a:endParaRPr>
              <a:latin typeface="Consolas"/>
              <a:ea typeface="Consolas"/>
              <a:cs typeface="Consolas"/>
              <a:sym typeface="Consolas"/>
            </a:endParaRPr>
          </a:p>
        </p:txBody>
      </p:sp>
      <p:sp>
        <p:nvSpPr>
          <p:cNvPr id="119" name="Google Shape;119;p23"/>
          <p:cNvSpPr txBox="1"/>
          <p:nvPr>
            <p:ph idx="1" type="body"/>
          </p:nvPr>
        </p:nvSpPr>
        <p:spPr>
          <a:xfrm>
            <a:off x="311700" y="1152475"/>
            <a:ext cx="46908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Programmers have a love hate relationship with JavaScript</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Has a lot of quirks and </a:t>
            </a:r>
            <a:r>
              <a:rPr lang="en">
                <a:latin typeface="Consolas"/>
                <a:ea typeface="Consolas"/>
                <a:cs typeface="Consolas"/>
                <a:sym typeface="Consolas"/>
              </a:rPr>
              <a:t>inconsistencies</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1000"/>
              </a:spcAft>
              <a:buSzPts val="1800"/>
              <a:buFont typeface="Consolas"/>
              <a:buChar char="-"/>
            </a:pPr>
            <a:r>
              <a:rPr lang="en">
                <a:latin typeface="Consolas"/>
                <a:ea typeface="Consolas"/>
                <a:cs typeface="Consolas"/>
                <a:sym typeface="Consolas"/>
              </a:rPr>
              <a:t>Single threaded -&gt; Can only do one thing at a time (unlike most other languages)</a:t>
            </a:r>
            <a:endParaRPr>
              <a:latin typeface="Consolas"/>
              <a:ea typeface="Consolas"/>
              <a:cs typeface="Consolas"/>
              <a:sym typeface="Consolas"/>
            </a:endParaRPr>
          </a:p>
        </p:txBody>
      </p:sp>
      <p:pic>
        <p:nvPicPr>
          <p:cNvPr id="120" name="Google Shape;120;p23"/>
          <p:cNvPicPr preferRelativeResize="0"/>
          <p:nvPr/>
        </p:nvPicPr>
        <p:blipFill>
          <a:blip r:embed="rId3">
            <a:alphaModFix/>
          </a:blip>
          <a:stretch>
            <a:fillRect/>
          </a:stretch>
        </p:blipFill>
        <p:spPr>
          <a:xfrm>
            <a:off x="5392979" y="1152475"/>
            <a:ext cx="3439322" cy="3416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What is JavaScript?</a:t>
            </a:r>
            <a:endParaRPr>
              <a:latin typeface="Consolas"/>
              <a:ea typeface="Consolas"/>
              <a:cs typeface="Consolas"/>
              <a:sym typeface="Consolas"/>
            </a:endParaRPr>
          </a:p>
        </p:txBody>
      </p:sp>
      <p:sp>
        <p:nvSpPr>
          <p:cNvPr id="126" name="Google Shape;126;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1000"/>
              </a:spcAft>
              <a:buSzPts val="1800"/>
              <a:buFont typeface="Consolas"/>
              <a:buChar char="-"/>
            </a:pPr>
            <a:r>
              <a:rPr lang="en">
                <a:latin typeface="Consolas"/>
                <a:ea typeface="Consolas"/>
                <a:cs typeface="Consolas"/>
                <a:sym typeface="Consolas"/>
              </a:rPr>
              <a:t>This is why TypeScript exists!</a:t>
            </a:r>
            <a:endParaRPr>
              <a:latin typeface="Consolas"/>
              <a:ea typeface="Consolas"/>
              <a:cs typeface="Consolas"/>
              <a:sym typeface="Consolas"/>
            </a:endParaRPr>
          </a:p>
        </p:txBody>
      </p:sp>
      <p:pic>
        <p:nvPicPr>
          <p:cNvPr id="127" name="Google Shape;127;p24" title="Screenshot 2026-03-16 at 10.51.12 AM.png"/>
          <p:cNvPicPr preferRelativeResize="0"/>
          <p:nvPr/>
        </p:nvPicPr>
        <p:blipFill>
          <a:blip r:embed="rId3">
            <a:alphaModFix/>
          </a:blip>
          <a:stretch>
            <a:fillRect/>
          </a:stretch>
        </p:blipFill>
        <p:spPr>
          <a:xfrm>
            <a:off x="311700" y="2657802"/>
            <a:ext cx="8520601" cy="1911072"/>
          </a:xfrm>
          <a:prstGeom prst="rect">
            <a:avLst/>
          </a:prstGeom>
          <a:noFill/>
          <a:ln>
            <a:noFill/>
          </a:ln>
        </p:spPr>
      </p:pic>
      <p:cxnSp>
        <p:nvCxnSpPr>
          <p:cNvPr id="128" name="Google Shape;128;p24"/>
          <p:cNvCxnSpPr/>
          <p:nvPr/>
        </p:nvCxnSpPr>
        <p:spPr>
          <a:xfrm rot="10800000">
            <a:off x="1217575" y="4373775"/>
            <a:ext cx="731400" cy="0"/>
          </a:xfrm>
          <a:prstGeom prst="straightConnector1">
            <a:avLst/>
          </a:prstGeom>
          <a:noFill/>
          <a:ln cap="flat" cmpd="sng" w="38100">
            <a:solidFill>
              <a:srgbClr val="FF0000"/>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Where Does JavaScript Go?</a:t>
            </a:r>
            <a:endParaRPr>
              <a:latin typeface="Consolas"/>
              <a:ea typeface="Consolas"/>
              <a:cs typeface="Consolas"/>
              <a:sym typeface="Consolas"/>
            </a:endParaRPr>
          </a:p>
        </p:txBody>
      </p:sp>
      <p:sp>
        <p:nvSpPr>
          <p:cNvPr id="134" name="Google Shape;13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Similar to CSS</a:t>
            </a:r>
            <a:endParaRPr>
              <a:latin typeface="Consolas"/>
              <a:ea typeface="Consolas"/>
              <a:cs typeface="Consolas"/>
              <a:sym typeface="Consolas"/>
            </a:endParaRPr>
          </a:p>
          <a:p>
            <a:pPr indent="-342900" lvl="1" marL="914400" rtl="0" algn="l">
              <a:spcBef>
                <a:spcPts val="1000"/>
              </a:spcBef>
              <a:spcAft>
                <a:spcPts val="0"/>
              </a:spcAft>
              <a:buSzPts val="1800"/>
              <a:buFont typeface="Consolas"/>
              <a:buChar char="-"/>
            </a:pPr>
            <a:r>
              <a:rPr lang="en" sz="1800">
                <a:latin typeface="Consolas"/>
                <a:ea typeface="Consolas"/>
                <a:cs typeface="Consolas"/>
                <a:sym typeface="Consolas"/>
              </a:rPr>
              <a:t>Inline, Internal, External</a:t>
            </a:r>
            <a:endParaRPr sz="1800">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JavaScript needs to load after our HTML and CSS</a:t>
            </a:r>
            <a:endParaRPr>
              <a:latin typeface="Consolas"/>
              <a:ea typeface="Consolas"/>
              <a:cs typeface="Consolas"/>
              <a:sym typeface="Consolas"/>
            </a:endParaRPr>
          </a:p>
          <a:p>
            <a:pPr indent="-342900" lvl="1" marL="914400" rtl="0" algn="l">
              <a:spcBef>
                <a:spcPts val="1000"/>
              </a:spcBef>
              <a:spcAft>
                <a:spcPts val="0"/>
              </a:spcAft>
              <a:buSzPts val="1800"/>
              <a:buFont typeface="Consolas"/>
              <a:buChar char="-"/>
            </a:pPr>
            <a:r>
              <a:rPr lang="en" sz="1800">
                <a:latin typeface="Consolas"/>
                <a:ea typeface="Consolas"/>
                <a:cs typeface="Consolas"/>
                <a:sym typeface="Consolas"/>
              </a:rPr>
              <a:t>Visuals should load before logic</a:t>
            </a:r>
            <a:endParaRPr sz="1800">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1000"/>
              </a:spcAft>
              <a:buSzPts val="1800"/>
              <a:buFont typeface="Consolas"/>
              <a:buChar char="-"/>
            </a:pPr>
            <a:r>
              <a:rPr lang="en">
                <a:latin typeface="Consolas"/>
                <a:ea typeface="Consolas"/>
                <a:cs typeface="Consolas"/>
                <a:sym typeface="Consolas"/>
              </a:rPr>
              <a:t>Demo</a:t>
            </a:r>
            <a:endParaRPr>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JavaScript Variables</a:t>
            </a:r>
            <a:endParaRPr>
              <a:latin typeface="Consolas"/>
              <a:ea typeface="Consolas"/>
              <a:cs typeface="Consolas"/>
              <a:sym typeface="Consolas"/>
            </a:endParaRPr>
          </a:p>
        </p:txBody>
      </p:sp>
      <p:sp>
        <p:nvSpPr>
          <p:cNvPr id="140" name="Google Shape;140;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var		-&gt; old, don’t use</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let		-&gt; can be reassigned</a:t>
            </a:r>
            <a:endParaRPr>
              <a:latin typeface="Consolas"/>
              <a:ea typeface="Consolas"/>
              <a:cs typeface="Consolas"/>
              <a:sym typeface="Consolas"/>
            </a:endParaRPr>
          </a:p>
          <a:p>
            <a:pPr indent="-342900" lvl="0" marL="457200" rtl="0" algn="l">
              <a:spcBef>
                <a:spcPts val="1000"/>
              </a:spcBef>
              <a:spcAft>
                <a:spcPts val="1000"/>
              </a:spcAft>
              <a:buSzPts val="1800"/>
              <a:buFont typeface="Consolas"/>
              <a:buChar char="-"/>
            </a:pPr>
            <a:r>
              <a:rPr lang="en">
                <a:latin typeface="Consolas"/>
                <a:ea typeface="Consolas"/>
                <a:cs typeface="Consolas"/>
                <a:sym typeface="Consolas"/>
              </a:rPr>
              <a:t>const	-&gt; cannot be reassigned</a:t>
            </a:r>
            <a:endParaRPr>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JavaScript Variables</a:t>
            </a:r>
            <a:endParaRPr>
              <a:latin typeface="Consolas"/>
              <a:ea typeface="Consolas"/>
              <a:cs typeface="Consolas"/>
              <a:sym typeface="Consolas"/>
            </a:endParaRPr>
          </a:p>
        </p:txBody>
      </p:sp>
      <p:sp>
        <p:nvSpPr>
          <p:cNvPr id="146" name="Google Shape;146;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Type of the variable is assumed</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string	-&gt; “hello”</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Number	-&gt; 42.5</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Boolean	-&gt; true</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1000"/>
              </a:spcAft>
              <a:buSzPts val="1800"/>
              <a:buFont typeface="Consolas"/>
              <a:buChar char="-"/>
            </a:pPr>
            <a:r>
              <a:rPr lang="en">
                <a:latin typeface="Consolas"/>
                <a:ea typeface="Consolas"/>
                <a:cs typeface="Consolas"/>
                <a:sym typeface="Consolas"/>
              </a:rPr>
              <a:t>Demo</a:t>
            </a:r>
            <a:endParaRPr>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JavaScript Variables</a:t>
            </a:r>
            <a:endParaRPr>
              <a:latin typeface="Consolas"/>
              <a:ea typeface="Consolas"/>
              <a:cs typeface="Consolas"/>
              <a:sym typeface="Consolas"/>
            </a:endParaRPr>
          </a:p>
        </p:txBody>
      </p:sp>
      <p:sp>
        <p:nvSpPr>
          <p:cNvPr id="152" name="Google Shape;152;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null		-&gt; intentionally empty value</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undefined	-&gt; never assigned a value</a:t>
            </a:r>
            <a:endParaRPr>
              <a:latin typeface="Consolas"/>
              <a:ea typeface="Consolas"/>
              <a:cs typeface="Consolas"/>
              <a:sym typeface="Consolas"/>
            </a:endParaRPr>
          </a:p>
          <a:p>
            <a:pPr indent="-342900" lvl="0" marL="457200" rtl="0" algn="l">
              <a:spcBef>
                <a:spcPts val="1000"/>
              </a:spcBef>
              <a:spcAft>
                <a:spcPts val="1000"/>
              </a:spcAft>
              <a:buSzPts val="1800"/>
              <a:buFont typeface="Consolas"/>
              <a:buChar char="-"/>
            </a:pPr>
            <a:r>
              <a:rPr lang="en">
                <a:latin typeface="Consolas"/>
                <a:ea typeface="Consolas"/>
                <a:cs typeface="Consolas"/>
                <a:sym typeface="Consolas"/>
              </a:rPr>
              <a:t>NaN			-&gt; happens when math goes wrong (“hello” / 2)</a:t>
            </a:r>
            <a:endParaRPr>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JavaScript Arithmetic</a:t>
            </a:r>
            <a:endParaRPr>
              <a:latin typeface="Consolas"/>
              <a:ea typeface="Consolas"/>
              <a:cs typeface="Consolas"/>
              <a:sym typeface="Consolas"/>
            </a:endParaRPr>
          </a:p>
        </p:txBody>
      </p:sp>
      <p:sp>
        <p:nvSpPr>
          <p:cNvPr id="158" name="Google Shape;158;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Basic math operators -&gt; +, -, *, /</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 also works for putting strings together</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This makes for some really weird JavaScript bugs</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Demo</a:t>
            </a:r>
            <a:endParaRPr>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The DOM</a:t>
            </a:r>
            <a:endParaRPr>
              <a:latin typeface="Consolas"/>
              <a:ea typeface="Consolas"/>
              <a:cs typeface="Consolas"/>
              <a:sym typeface="Consolas"/>
            </a:endParaRPr>
          </a:p>
        </p:txBody>
      </p:sp>
      <p:sp>
        <p:nvSpPr>
          <p:cNvPr id="164" name="Google Shape;164;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Document Object Model (DOM)</a:t>
            </a:r>
            <a:endParaRPr>
              <a:latin typeface="Consolas"/>
              <a:ea typeface="Consolas"/>
              <a:cs typeface="Consolas"/>
              <a:sym typeface="Consolas"/>
            </a:endParaRPr>
          </a:p>
          <a:p>
            <a:pPr indent="-342900" lvl="0" marL="457200" rtl="0" algn="l">
              <a:spcBef>
                <a:spcPts val="1000"/>
              </a:spcBef>
              <a:spcAft>
                <a:spcPts val="1000"/>
              </a:spcAft>
              <a:buSzPts val="1800"/>
              <a:buFont typeface="Consolas"/>
              <a:buChar char="-"/>
            </a:pPr>
            <a:r>
              <a:rPr lang="en">
                <a:latin typeface="Consolas"/>
                <a:ea typeface="Consolas"/>
                <a:cs typeface="Consolas"/>
                <a:sym typeface="Consolas"/>
              </a:rPr>
              <a:t>The browser’s representation of your HTML page</a:t>
            </a:r>
            <a:endParaRPr>
              <a:latin typeface="Consolas"/>
              <a:ea typeface="Consolas"/>
              <a:cs typeface="Consolas"/>
              <a:sym typeface="Consolas"/>
            </a:endParaRPr>
          </a:p>
        </p:txBody>
      </p:sp>
      <p:pic>
        <p:nvPicPr>
          <p:cNvPr id="165" name="Google Shape;165;p30"/>
          <p:cNvPicPr preferRelativeResize="0"/>
          <p:nvPr/>
        </p:nvPicPr>
        <p:blipFill>
          <a:blip r:embed="rId3">
            <a:alphaModFix/>
          </a:blip>
          <a:stretch>
            <a:fillRect/>
          </a:stretch>
        </p:blipFill>
        <p:spPr>
          <a:xfrm>
            <a:off x="2257425" y="2171700"/>
            <a:ext cx="4629150" cy="2533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The DOM</a:t>
            </a:r>
            <a:endParaRPr>
              <a:latin typeface="Consolas"/>
              <a:ea typeface="Consolas"/>
              <a:cs typeface="Consolas"/>
              <a:sym typeface="Consolas"/>
            </a:endParaRPr>
          </a:p>
        </p:txBody>
      </p:sp>
      <p:sp>
        <p:nvSpPr>
          <p:cNvPr id="171" name="Google Shape;171;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HTML	-&gt; the file you wrote</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DOM		-&gt; what the browser built</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JS		-&gt; how you interact with the DOM</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Interacting with the DOM through the browser console</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0" lvl="0" marL="0" rtl="0" algn="l">
              <a:spcBef>
                <a:spcPts val="1000"/>
              </a:spcBef>
              <a:spcAft>
                <a:spcPts val="1000"/>
              </a:spcAft>
              <a:buNone/>
            </a:pPr>
            <a:r>
              <a:t/>
            </a:r>
            <a:endParaRPr>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JavaScript DOM Selectors</a:t>
            </a:r>
            <a:endParaRPr>
              <a:latin typeface="Consolas"/>
              <a:ea typeface="Consolas"/>
              <a:cs typeface="Consolas"/>
              <a:sym typeface="Consolas"/>
            </a:endParaRPr>
          </a:p>
        </p:txBody>
      </p:sp>
      <p:sp>
        <p:nvSpPr>
          <p:cNvPr id="177" name="Google Shape;177;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Always prefaced with -&gt; document</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querySelector()	-&gt; use CSS selector to get the FIRST element</a:t>
            </a:r>
            <a:endParaRPr>
              <a:latin typeface="Consolas"/>
              <a:ea typeface="Consolas"/>
              <a:cs typeface="Consolas"/>
              <a:sym typeface="Consolas"/>
            </a:endParaRPr>
          </a:p>
          <a:p>
            <a:pPr indent="-342900" lvl="0" marL="457200" rtl="0" algn="l">
              <a:spcBef>
                <a:spcPts val="1000"/>
              </a:spcBef>
              <a:spcAft>
                <a:spcPts val="1000"/>
              </a:spcAft>
              <a:buSzPts val="1800"/>
              <a:buFont typeface="Consolas"/>
              <a:buChar char="-"/>
            </a:pPr>
            <a:r>
              <a:rPr lang="en">
                <a:latin typeface="Consolas"/>
                <a:ea typeface="Consolas"/>
                <a:cs typeface="Consolas"/>
                <a:sym typeface="Consolas"/>
              </a:rPr>
              <a:t>getElementByID()	-&gt; older, more limited, don’t use</a:t>
            </a:r>
            <a:endParaRPr>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JavaScript DOM Properties</a:t>
            </a:r>
            <a:endParaRPr>
              <a:latin typeface="Consolas"/>
              <a:ea typeface="Consolas"/>
              <a:cs typeface="Consolas"/>
              <a:sym typeface="Consolas"/>
            </a:endParaRPr>
          </a:p>
        </p:txBody>
      </p:sp>
      <p:sp>
        <p:nvSpPr>
          <p:cNvPr id="183" name="Google Shape;183;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textContent	-&gt; give an element text</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innerHTML		-&gt; inject HTML inside an element</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style			-&gt; add css attributes</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setAttribute	-&gt; change something like src or alt</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classList		-&gt; modify classes tied to element</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Demo</a:t>
            </a:r>
            <a:endParaRPr>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JavaScript DOM Manipulation</a:t>
            </a:r>
            <a:endParaRPr>
              <a:latin typeface="Consolas"/>
              <a:ea typeface="Consolas"/>
              <a:cs typeface="Consolas"/>
              <a:sym typeface="Consolas"/>
            </a:endParaRPr>
          </a:p>
        </p:txBody>
      </p:sp>
      <p:sp>
        <p:nvSpPr>
          <p:cNvPr id="189" name="Google Shape;189;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Pair program</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Start with an empty button -&gt; &lt;button&gt;&lt;/button&gt;</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Add basic text, styles, attributes, and classes using JS</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Don’t worry about hover effects</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Try using all properties -&gt; textContent, innerHTML, style, setAttribute, classList</a:t>
            </a:r>
            <a:endParaRPr>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nsolas"/>
                <a:ea typeface="Consolas"/>
                <a:cs typeface="Consolas"/>
                <a:sym typeface="Consolas"/>
              </a:rPr>
              <a:t>JavaScript DOM Element Creation</a:t>
            </a:r>
            <a:endParaRPr>
              <a:latin typeface="Consolas"/>
              <a:ea typeface="Consolas"/>
              <a:cs typeface="Consolas"/>
              <a:sym typeface="Consolas"/>
            </a:endParaRPr>
          </a:p>
        </p:txBody>
      </p:sp>
      <p:sp>
        <p:nvSpPr>
          <p:cNvPr id="195" name="Google Shape;195;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Consolas"/>
              <a:buChar char="-"/>
            </a:pPr>
            <a:r>
              <a:rPr lang="en">
                <a:latin typeface="Consolas"/>
                <a:ea typeface="Consolas"/>
                <a:cs typeface="Consolas"/>
                <a:sym typeface="Consolas"/>
              </a:rPr>
              <a:t>You can create new HTML elements using the DOM</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createElement(“div”)	-&gt; creates a new element</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appendChild()			-&gt; choose where the new element goes</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remove</a:t>
            </a:r>
            <a:r>
              <a:rPr lang="en">
                <a:latin typeface="Consolas"/>
                <a:ea typeface="Consolas"/>
                <a:cs typeface="Consolas"/>
                <a:sym typeface="Consolas"/>
              </a:rPr>
              <a:t>()				-&gt; deletes element</a:t>
            </a:r>
            <a:endParaRPr>
              <a:latin typeface="Consolas"/>
              <a:ea typeface="Consolas"/>
              <a:cs typeface="Consolas"/>
              <a:sym typeface="Consolas"/>
            </a:endParaRPr>
          </a:p>
          <a:p>
            <a:pPr indent="0" lvl="0" marL="0" rtl="0" algn="l">
              <a:spcBef>
                <a:spcPts val="1000"/>
              </a:spcBef>
              <a:spcAft>
                <a:spcPts val="0"/>
              </a:spcAft>
              <a:buNone/>
            </a:pPr>
            <a:r>
              <a:t/>
            </a:r>
            <a:endParaRPr>
              <a:latin typeface="Consolas"/>
              <a:ea typeface="Consolas"/>
              <a:cs typeface="Consolas"/>
              <a:sym typeface="Consolas"/>
            </a:endParaRPr>
          </a:p>
          <a:p>
            <a:pPr indent="-342900" lvl="0" marL="457200" rtl="0" algn="l">
              <a:spcBef>
                <a:spcPts val="1000"/>
              </a:spcBef>
              <a:spcAft>
                <a:spcPts val="0"/>
              </a:spcAft>
              <a:buSzPts val="1800"/>
              <a:buFont typeface="Consolas"/>
              <a:buChar char="-"/>
            </a:pPr>
            <a:r>
              <a:rPr lang="en">
                <a:latin typeface="Consolas"/>
                <a:ea typeface="Consolas"/>
                <a:cs typeface="Consolas"/>
                <a:sym typeface="Consolas"/>
              </a:rPr>
              <a:t>Demo with button</a:t>
            </a:r>
            <a:endParaRPr>
              <a:latin typeface="Consolas"/>
              <a:ea typeface="Consolas"/>
              <a:cs typeface="Consolas"/>
              <a:sym typeface="Consola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