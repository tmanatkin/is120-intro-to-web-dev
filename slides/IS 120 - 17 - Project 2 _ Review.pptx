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2624e70d6_0_1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2624e70d6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f0fddd86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f0fddd86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f0fddd867_2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f0fddd867_2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f0fddd867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f0fddd867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f0fddd867_2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f0fddd867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f0fddd867_2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f0fddd867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f0fddd867_2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f0fddd867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f0fddd867_2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cf0fddd867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f0fddd867_2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cf0fddd867_2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f0fddd867_2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f0fddd867_2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f0fddd867_2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cf0fddd867_2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cf0fddd867_2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cf0fddd867_2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cf0fddd867_2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cf0fddd867_2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cf0fddd867_2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cf0fddd867_2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ce3c9eea7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ce3c9eea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cf0fddd867_2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cf0fddd867_2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ce3c9eea7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ce3c9eea7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ce3c9eea7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ce3c9eea7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ce3c9eea7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ce3c9eea7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ce3c9eea7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ce3c9eea7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ce3c9eea7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ce3c9eea7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ce3c9eea71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ce3c9eea7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ce3c9eea71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ce3c9eea71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ce3c9eea71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ce3c9eea7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ce3c9eea7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ce3c9eea7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cf0fddd867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cf0fddd867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cf0fddd867_2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cf0fddd867_2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hrs.byu.edu/student-jobs-home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apple.com/" TargetMode="External"/><Relationship Id="rId4" Type="http://schemas.openxmlformats.org/officeDocument/2006/relationships/hyperlink" Target="https://www.figma.com/" TargetMode="External"/><Relationship Id="rId5" Type="http://schemas.openxmlformats.org/officeDocument/2006/relationships/hyperlink" Target="https://tanneratkin.com/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forms.gle/5r3ujJwPWt2pqDsR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IS 120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Project 2 / Review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Agenda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Project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Where we’re going with JavaScript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Career Prep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Pair Programming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Project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Flexbox and Grid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Animations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Accessibility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Google Lighthouse and WAVE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Add Dev Tool Demo Tools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Topics to review?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800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3925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1010725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Frontend</a:t>
            </a:r>
            <a:endParaRPr b="1" sz="1800">
              <a:solidFill>
                <a:schemeClr val="lt2"/>
              </a:solidFill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6303850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Database</a:t>
            </a:r>
            <a:endParaRPr b="1" sz="1800">
              <a:solidFill>
                <a:schemeClr val="lt2"/>
              </a:solidFill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7400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3657250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Backend</a:t>
            </a:r>
            <a:endParaRPr b="1" sz="1800">
              <a:solidFill>
                <a:schemeClr val="lt2"/>
              </a:solidFill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73607" y="2114437"/>
            <a:ext cx="914625" cy="9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5824" y="2114437"/>
            <a:ext cx="914625" cy="9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/>
          <p:nvPr/>
        </p:nvSpPr>
        <p:spPr>
          <a:xfrm>
            <a:off x="1010650" y="488850"/>
            <a:ext cx="1829400" cy="41658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800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3925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1010725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Frontend</a:t>
            </a:r>
            <a:endParaRPr b="1" sz="1800">
              <a:solidFill>
                <a:schemeClr val="lt2"/>
              </a:solidFill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6303850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Database</a:t>
            </a:r>
            <a:endParaRPr b="1" sz="1800">
              <a:solidFill>
                <a:schemeClr val="lt2"/>
              </a:solidFill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7400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3657250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Backend</a:t>
            </a:r>
            <a:endParaRPr b="1" sz="1800">
              <a:solidFill>
                <a:schemeClr val="lt2"/>
              </a:solidFill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73607" y="2114437"/>
            <a:ext cx="914625" cy="9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5824" y="2114437"/>
            <a:ext cx="914625" cy="9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 txBox="1"/>
          <p:nvPr/>
        </p:nvSpPr>
        <p:spPr>
          <a:xfrm>
            <a:off x="1010725" y="3486375"/>
            <a:ext cx="1829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9900"/>
                </a:solidFill>
              </a:rPr>
              <a:t>HTML</a:t>
            </a:r>
            <a:endParaRPr b="1" sz="1800">
              <a:solidFill>
                <a:srgbClr val="FF99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9900"/>
                </a:solidFill>
              </a:rPr>
              <a:t>CSS</a:t>
            </a:r>
            <a:endParaRPr b="1" sz="1800">
              <a:solidFill>
                <a:srgbClr val="FF9900"/>
              </a:solidFill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1010725" y="65817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9900"/>
                </a:solidFill>
              </a:rPr>
              <a:t>IS 120</a:t>
            </a:r>
            <a:endParaRPr b="1" sz="18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/>
          <p:nvPr/>
        </p:nvSpPr>
        <p:spPr>
          <a:xfrm>
            <a:off x="1010650" y="488850"/>
            <a:ext cx="1829400" cy="41658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800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3925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 txBox="1"/>
          <p:nvPr/>
        </p:nvSpPr>
        <p:spPr>
          <a:xfrm>
            <a:off x="1010725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Frontend</a:t>
            </a:r>
            <a:endParaRPr b="1" sz="1800">
              <a:solidFill>
                <a:schemeClr val="lt2"/>
              </a:solidFill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6303850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Database</a:t>
            </a:r>
            <a:endParaRPr b="1" sz="1800">
              <a:solidFill>
                <a:schemeClr val="lt2"/>
              </a:solidFill>
            </a:endParaRPr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7400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/>
        </p:nvSpPr>
        <p:spPr>
          <a:xfrm>
            <a:off x="3657250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Backend</a:t>
            </a:r>
            <a:endParaRPr b="1" sz="1800">
              <a:solidFill>
                <a:schemeClr val="lt2"/>
              </a:solidFill>
            </a:endParaRPr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73607" y="2114437"/>
            <a:ext cx="914625" cy="9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5824" y="2114437"/>
            <a:ext cx="914625" cy="9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 txBox="1"/>
          <p:nvPr/>
        </p:nvSpPr>
        <p:spPr>
          <a:xfrm>
            <a:off x="1010725" y="3486375"/>
            <a:ext cx="1829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9900"/>
                </a:solidFill>
              </a:rPr>
              <a:t>HTML</a:t>
            </a:r>
            <a:endParaRPr b="1" sz="1800">
              <a:solidFill>
                <a:srgbClr val="FF99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9900"/>
                </a:solidFill>
              </a:rPr>
              <a:t>CSS</a:t>
            </a:r>
            <a:endParaRPr b="1" sz="1800">
              <a:solidFill>
                <a:srgbClr val="FF99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9900"/>
                </a:solidFill>
              </a:rPr>
              <a:t>JavaScript</a:t>
            </a:r>
            <a:endParaRPr b="1" sz="1800">
              <a:solidFill>
                <a:srgbClr val="FF9900"/>
              </a:solidFill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1010725" y="65817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9900"/>
                </a:solidFill>
              </a:rPr>
              <a:t>IS 120</a:t>
            </a:r>
            <a:endParaRPr b="1" sz="18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/>
          <p:nvPr/>
        </p:nvSpPr>
        <p:spPr>
          <a:xfrm>
            <a:off x="1010650" y="488850"/>
            <a:ext cx="1829400" cy="41658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800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3925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 txBox="1"/>
          <p:nvPr/>
        </p:nvSpPr>
        <p:spPr>
          <a:xfrm>
            <a:off x="1010725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Frontend</a:t>
            </a:r>
            <a:endParaRPr b="1" sz="1800">
              <a:solidFill>
                <a:schemeClr val="lt2"/>
              </a:solidFill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6303850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Database</a:t>
            </a:r>
            <a:endParaRPr b="1" sz="1800">
              <a:solidFill>
                <a:schemeClr val="lt2"/>
              </a:solidFill>
            </a:endParaRPr>
          </a:p>
        </p:txBody>
      </p:sp>
      <p:pic>
        <p:nvPicPr>
          <p:cNvPr id="119" name="Google Shape;11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7400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/>
        </p:nvSpPr>
        <p:spPr>
          <a:xfrm>
            <a:off x="3657250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Backend</a:t>
            </a:r>
            <a:endParaRPr b="1" sz="1800">
              <a:solidFill>
                <a:schemeClr val="lt2"/>
              </a:solidFill>
            </a:endParaRPr>
          </a:p>
        </p:txBody>
      </p:sp>
      <p:pic>
        <p:nvPicPr>
          <p:cNvPr id="121" name="Google Shape;12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73607" y="2114437"/>
            <a:ext cx="914625" cy="9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5824" y="2114437"/>
            <a:ext cx="914625" cy="9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/>
        </p:nvSpPr>
        <p:spPr>
          <a:xfrm>
            <a:off x="1010725" y="3486375"/>
            <a:ext cx="1829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9900"/>
                </a:solidFill>
              </a:rPr>
              <a:t>HTML</a:t>
            </a:r>
            <a:endParaRPr b="1" sz="1800">
              <a:solidFill>
                <a:srgbClr val="FF99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9900"/>
                </a:solidFill>
              </a:rPr>
              <a:t>CSS</a:t>
            </a:r>
            <a:endParaRPr b="1" sz="1800">
              <a:solidFill>
                <a:srgbClr val="FF99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9900"/>
                </a:solidFill>
              </a:rPr>
              <a:t>JavaScript</a:t>
            </a:r>
            <a:endParaRPr b="1" sz="1800">
              <a:solidFill>
                <a:srgbClr val="FF9900"/>
              </a:solidFill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1010725" y="65817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9900"/>
                </a:solidFill>
              </a:rPr>
              <a:t>IS 120</a:t>
            </a:r>
            <a:endParaRPr b="1" sz="1800">
              <a:solidFill>
                <a:srgbClr val="FF9900"/>
              </a:solidFill>
            </a:endParaRPr>
          </a:p>
        </p:txBody>
      </p:sp>
      <p:cxnSp>
        <p:nvCxnSpPr>
          <p:cNvPr id="125" name="Google Shape;125;p19"/>
          <p:cNvCxnSpPr/>
          <p:nvPr/>
        </p:nvCxnSpPr>
        <p:spPr>
          <a:xfrm flipH="1" rot="10800000">
            <a:off x="2609025" y="3727050"/>
            <a:ext cx="1626900" cy="5385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p19"/>
          <p:cNvSpPr txBox="1"/>
          <p:nvPr/>
        </p:nvSpPr>
        <p:spPr>
          <a:xfrm>
            <a:off x="3657325" y="348637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9900"/>
                </a:solidFill>
              </a:rPr>
              <a:t>APIs</a:t>
            </a:r>
            <a:endParaRPr b="1" sz="18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/>
          <p:nvPr/>
        </p:nvSpPr>
        <p:spPr>
          <a:xfrm>
            <a:off x="1010650" y="488850"/>
            <a:ext cx="1829400" cy="41658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800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3925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0"/>
          <p:cNvSpPr txBox="1"/>
          <p:nvPr/>
        </p:nvSpPr>
        <p:spPr>
          <a:xfrm>
            <a:off x="1010725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Frontend</a:t>
            </a:r>
            <a:endParaRPr b="1" sz="1800">
              <a:solidFill>
                <a:schemeClr val="lt2"/>
              </a:solidFill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6303850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Database</a:t>
            </a:r>
            <a:endParaRPr b="1" sz="1800">
              <a:solidFill>
                <a:schemeClr val="lt2"/>
              </a:solidFill>
            </a:endParaRPr>
          </a:p>
        </p:txBody>
      </p:sp>
      <p:pic>
        <p:nvPicPr>
          <p:cNvPr id="136" name="Google Shape;13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7400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0"/>
          <p:cNvSpPr txBox="1"/>
          <p:nvPr/>
        </p:nvSpPr>
        <p:spPr>
          <a:xfrm>
            <a:off x="3657250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Backend</a:t>
            </a:r>
            <a:endParaRPr b="1" sz="1800">
              <a:solidFill>
                <a:schemeClr val="lt2"/>
              </a:solidFill>
            </a:endParaRPr>
          </a:p>
        </p:txBody>
      </p:sp>
      <p:pic>
        <p:nvPicPr>
          <p:cNvPr id="138" name="Google Shape;13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73607" y="2114437"/>
            <a:ext cx="914625" cy="9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5824" y="2114437"/>
            <a:ext cx="914625" cy="9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0"/>
          <p:cNvSpPr txBox="1"/>
          <p:nvPr/>
        </p:nvSpPr>
        <p:spPr>
          <a:xfrm>
            <a:off x="1010725" y="3486375"/>
            <a:ext cx="1829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9900"/>
                </a:solidFill>
              </a:rPr>
              <a:t>HTML</a:t>
            </a:r>
            <a:endParaRPr b="1" sz="1800">
              <a:solidFill>
                <a:srgbClr val="FF99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9900"/>
                </a:solidFill>
              </a:rPr>
              <a:t>CSS</a:t>
            </a:r>
            <a:endParaRPr b="1" sz="1800">
              <a:solidFill>
                <a:srgbClr val="FF99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9900"/>
                </a:solidFill>
              </a:rPr>
              <a:t>JavaScript</a:t>
            </a:r>
            <a:endParaRPr b="1" sz="1800">
              <a:solidFill>
                <a:srgbClr val="FF9900"/>
              </a:solidFill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1010725" y="65817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9900"/>
                </a:solidFill>
              </a:rPr>
              <a:t>IS 120</a:t>
            </a:r>
            <a:endParaRPr b="1" sz="1800">
              <a:solidFill>
                <a:srgbClr val="FF9900"/>
              </a:solidFill>
            </a:endParaRPr>
          </a:p>
        </p:txBody>
      </p:sp>
      <p:cxnSp>
        <p:nvCxnSpPr>
          <p:cNvPr id="142" name="Google Shape;142;p20"/>
          <p:cNvCxnSpPr/>
          <p:nvPr/>
        </p:nvCxnSpPr>
        <p:spPr>
          <a:xfrm flipH="1" rot="10800000">
            <a:off x="2609025" y="3727050"/>
            <a:ext cx="1626900" cy="5385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20"/>
          <p:cNvSpPr txBox="1"/>
          <p:nvPr/>
        </p:nvSpPr>
        <p:spPr>
          <a:xfrm>
            <a:off x="3657325" y="348637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9900"/>
                </a:solidFill>
              </a:rPr>
              <a:t>APIs</a:t>
            </a:r>
            <a:endParaRPr b="1" sz="1800">
              <a:solidFill>
                <a:srgbClr val="FF9900"/>
              </a:solidFill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3688225" y="488850"/>
            <a:ext cx="4445100" cy="4165800"/>
          </a:xfrm>
          <a:prstGeom prst="rect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0"/>
          <p:cNvSpPr txBox="1"/>
          <p:nvPr/>
        </p:nvSpPr>
        <p:spPr>
          <a:xfrm>
            <a:off x="4998438" y="65817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</a:rPr>
              <a:t>Supabase</a:t>
            </a:r>
            <a:endParaRPr b="1" sz="18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/>
          <p:nvPr/>
        </p:nvSpPr>
        <p:spPr>
          <a:xfrm>
            <a:off x="1010650" y="488850"/>
            <a:ext cx="1829400" cy="4165800"/>
          </a:xfrm>
          <a:prstGeom prst="rect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800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3925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1"/>
          <p:cNvSpPr txBox="1"/>
          <p:nvPr/>
        </p:nvSpPr>
        <p:spPr>
          <a:xfrm>
            <a:off x="1010725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Frontend</a:t>
            </a:r>
            <a:endParaRPr b="1" sz="1800">
              <a:solidFill>
                <a:schemeClr val="lt2"/>
              </a:solidFill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6303850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Database</a:t>
            </a:r>
            <a:endParaRPr b="1" sz="1800">
              <a:solidFill>
                <a:schemeClr val="lt2"/>
              </a:solidFill>
            </a:endParaRPr>
          </a:p>
        </p:txBody>
      </p:sp>
      <p:pic>
        <p:nvPicPr>
          <p:cNvPr id="155" name="Google Shape;15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7400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 txBox="1"/>
          <p:nvPr/>
        </p:nvSpPr>
        <p:spPr>
          <a:xfrm>
            <a:off x="3657250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Backend</a:t>
            </a:r>
            <a:endParaRPr b="1" sz="1800">
              <a:solidFill>
                <a:schemeClr val="lt2"/>
              </a:solidFill>
            </a:endParaRPr>
          </a:p>
        </p:txBody>
      </p:sp>
      <p:pic>
        <p:nvPicPr>
          <p:cNvPr id="157" name="Google Shape;15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73607" y="2114437"/>
            <a:ext cx="914625" cy="9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5824" y="2114437"/>
            <a:ext cx="914625" cy="9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/>
          <p:cNvSpPr txBox="1"/>
          <p:nvPr/>
        </p:nvSpPr>
        <p:spPr>
          <a:xfrm>
            <a:off x="1010725" y="3486375"/>
            <a:ext cx="1829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FFFF"/>
                </a:solidFill>
              </a:rPr>
              <a:t>Node.js</a:t>
            </a:r>
            <a:endParaRPr b="1" sz="1800">
              <a:solidFill>
                <a:srgbClr val="00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FFFF"/>
                </a:solidFill>
              </a:rPr>
              <a:t>TypeScript</a:t>
            </a:r>
            <a:endParaRPr b="1" sz="1800">
              <a:solidFill>
                <a:srgbClr val="00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FFFF"/>
                </a:solidFill>
              </a:rPr>
              <a:t>JSX</a:t>
            </a:r>
            <a:endParaRPr b="1" sz="1800">
              <a:solidFill>
                <a:srgbClr val="00FFFF"/>
              </a:solidFill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1010725" y="65817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FFFF"/>
                </a:solidFill>
              </a:rPr>
              <a:t>React</a:t>
            </a:r>
            <a:endParaRPr b="1" sz="1800">
              <a:solidFill>
                <a:srgbClr val="00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/>
          <p:nvPr/>
        </p:nvSpPr>
        <p:spPr>
          <a:xfrm>
            <a:off x="1010650" y="488850"/>
            <a:ext cx="4476000" cy="4165800"/>
          </a:xfrm>
          <a:prstGeom prst="rect">
            <a:avLst/>
          </a:prstGeom>
          <a:noFill/>
          <a:ln cap="flat" cmpd="sng" w="38100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66" name="Google Shape;16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800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3925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2"/>
          <p:cNvSpPr txBox="1"/>
          <p:nvPr/>
        </p:nvSpPr>
        <p:spPr>
          <a:xfrm>
            <a:off x="1010725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Frontend</a:t>
            </a:r>
            <a:endParaRPr b="1" sz="1800">
              <a:solidFill>
                <a:schemeClr val="lt2"/>
              </a:solidFill>
            </a:endParaRPr>
          </a:p>
        </p:txBody>
      </p:sp>
      <p:sp>
        <p:nvSpPr>
          <p:cNvPr id="169" name="Google Shape;169;p22"/>
          <p:cNvSpPr txBox="1"/>
          <p:nvPr/>
        </p:nvSpPr>
        <p:spPr>
          <a:xfrm>
            <a:off x="6303850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Database</a:t>
            </a:r>
            <a:endParaRPr b="1" sz="1800">
              <a:solidFill>
                <a:schemeClr val="lt2"/>
              </a:solidFill>
            </a:endParaRPr>
          </a:p>
        </p:txBody>
      </p:sp>
      <p:pic>
        <p:nvPicPr>
          <p:cNvPr id="170" name="Google Shape;17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7400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2"/>
          <p:cNvSpPr txBox="1"/>
          <p:nvPr/>
        </p:nvSpPr>
        <p:spPr>
          <a:xfrm>
            <a:off x="3657250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Backend</a:t>
            </a:r>
            <a:endParaRPr b="1" sz="1800">
              <a:solidFill>
                <a:schemeClr val="lt2"/>
              </a:solidFill>
            </a:endParaRPr>
          </a:p>
        </p:txBody>
      </p:sp>
      <p:pic>
        <p:nvPicPr>
          <p:cNvPr id="172" name="Google Shape;17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73607" y="2114437"/>
            <a:ext cx="914625" cy="9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5824" y="2114437"/>
            <a:ext cx="914625" cy="9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2"/>
          <p:cNvSpPr txBox="1"/>
          <p:nvPr/>
        </p:nvSpPr>
        <p:spPr>
          <a:xfrm>
            <a:off x="1010725" y="3486375"/>
            <a:ext cx="1829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B4A7D6"/>
                </a:solidFill>
              </a:rPr>
              <a:t>Node.js</a:t>
            </a:r>
            <a:endParaRPr b="1" sz="1800">
              <a:solidFill>
                <a:srgbClr val="B4A7D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B4A7D6"/>
                </a:solidFill>
              </a:rPr>
              <a:t>TypeScript</a:t>
            </a:r>
            <a:endParaRPr b="1" sz="1800">
              <a:solidFill>
                <a:srgbClr val="B4A7D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B4A7D6"/>
                </a:solidFill>
              </a:rPr>
              <a:t>JSX</a:t>
            </a:r>
            <a:endParaRPr b="1" sz="1800">
              <a:solidFill>
                <a:srgbClr val="B4A7D6"/>
              </a:solidFill>
            </a:endParaRPr>
          </a:p>
        </p:txBody>
      </p:sp>
      <p:sp>
        <p:nvSpPr>
          <p:cNvPr id="175" name="Google Shape;175;p22"/>
          <p:cNvSpPr txBox="1"/>
          <p:nvPr/>
        </p:nvSpPr>
        <p:spPr>
          <a:xfrm>
            <a:off x="2333950" y="65817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B4A7D6"/>
                </a:solidFill>
              </a:rPr>
              <a:t>Next.js</a:t>
            </a:r>
            <a:endParaRPr b="1" sz="1800">
              <a:solidFill>
                <a:srgbClr val="B4A7D6"/>
              </a:solidFill>
            </a:endParaRPr>
          </a:p>
        </p:txBody>
      </p:sp>
      <p:sp>
        <p:nvSpPr>
          <p:cNvPr id="176" name="Google Shape;176;p22"/>
          <p:cNvSpPr txBox="1"/>
          <p:nvPr/>
        </p:nvSpPr>
        <p:spPr>
          <a:xfrm>
            <a:off x="3688225" y="348637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B4A7D6"/>
                </a:solidFill>
              </a:rPr>
              <a:t>Server Actions</a:t>
            </a:r>
            <a:endParaRPr b="1" sz="1800">
              <a:solidFill>
                <a:srgbClr val="B4A7D6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/>
          <p:nvPr/>
        </p:nvSpPr>
        <p:spPr>
          <a:xfrm>
            <a:off x="3690625" y="488850"/>
            <a:ext cx="1762800" cy="41658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  <p:pic>
        <p:nvPicPr>
          <p:cNvPr id="182" name="Google Shape;18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800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3925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3"/>
          <p:cNvSpPr txBox="1"/>
          <p:nvPr/>
        </p:nvSpPr>
        <p:spPr>
          <a:xfrm>
            <a:off x="1010725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Frontend</a:t>
            </a:r>
            <a:endParaRPr b="1" sz="1800">
              <a:solidFill>
                <a:schemeClr val="lt2"/>
              </a:solidFill>
            </a:endParaRPr>
          </a:p>
        </p:txBody>
      </p:sp>
      <p:sp>
        <p:nvSpPr>
          <p:cNvPr id="185" name="Google Shape;185;p23"/>
          <p:cNvSpPr txBox="1"/>
          <p:nvPr/>
        </p:nvSpPr>
        <p:spPr>
          <a:xfrm>
            <a:off x="6303850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Database</a:t>
            </a:r>
            <a:endParaRPr b="1" sz="1800">
              <a:solidFill>
                <a:schemeClr val="lt2"/>
              </a:solidFill>
            </a:endParaRPr>
          </a:p>
        </p:txBody>
      </p:sp>
      <p:pic>
        <p:nvPicPr>
          <p:cNvPr id="186" name="Google Shape;18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7400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3"/>
          <p:cNvSpPr txBox="1"/>
          <p:nvPr/>
        </p:nvSpPr>
        <p:spPr>
          <a:xfrm>
            <a:off x="3657250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Backend</a:t>
            </a:r>
            <a:endParaRPr b="1" sz="1800">
              <a:solidFill>
                <a:schemeClr val="lt2"/>
              </a:solidFill>
            </a:endParaRPr>
          </a:p>
        </p:txBody>
      </p:sp>
      <p:pic>
        <p:nvPicPr>
          <p:cNvPr id="188" name="Google Shape;188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73607" y="2114437"/>
            <a:ext cx="914625" cy="9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5824" y="2114437"/>
            <a:ext cx="914625" cy="9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3"/>
          <p:cNvSpPr txBox="1"/>
          <p:nvPr/>
        </p:nvSpPr>
        <p:spPr>
          <a:xfrm>
            <a:off x="3657325" y="65817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FF00"/>
                </a:solidFill>
              </a:rPr>
              <a:t>Node/Express</a:t>
            </a:r>
            <a:endParaRPr b="1" sz="1800">
              <a:solidFill>
                <a:srgbClr val="00FF00"/>
              </a:solidFill>
            </a:endParaRPr>
          </a:p>
        </p:txBody>
      </p:sp>
      <p:sp>
        <p:nvSpPr>
          <p:cNvPr id="191" name="Google Shape;191;p23"/>
          <p:cNvSpPr txBox="1"/>
          <p:nvPr/>
        </p:nvSpPr>
        <p:spPr>
          <a:xfrm>
            <a:off x="3657325" y="3486375"/>
            <a:ext cx="1829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FF00"/>
                </a:solidFill>
              </a:rPr>
              <a:t>Node</a:t>
            </a:r>
            <a:r>
              <a:rPr b="1" lang="en" sz="1800">
                <a:solidFill>
                  <a:srgbClr val="00FF00"/>
                </a:solidFill>
              </a:rPr>
              <a:t>.</a:t>
            </a:r>
            <a:r>
              <a:rPr b="1" lang="en" sz="1800">
                <a:solidFill>
                  <a:srgbClr val="00FF00"/>
                </a:solidFill>
              </a:rPr>
              <a:t>js</a:t>
            </a:r>
            <a:endParaRPr b="1" sz="1800">
              <a:solidFill>
                <a:srgbClr val="00FF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FF00"/>
                </a:solidFill>
              </a:rPr>
              <a:t>Express</a:t>
            </a:r>
            <a:endParaRPr b="1" sz="1800">
              <a:solidFill>
                <a:srgbClr val="00FF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FF00"/>
                </a:solidFill>
              </a:rPr>
              <a:t>JavaScript</a:t>
            </a:r>
            <a:endParaRPr b="1" sz="18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/>
          <p:nvPr/>
        </p:nvSpPr>
        <p:spPr>
          <a:xfrm>
            <a:off x="3688225" y="488850"/>
            <a:ext cx="4445100" cy="4165800"/>
          </a:xfrm>
          <a:prstGeom prst="rect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7" name="Google Shape;19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800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3925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4"/>
          <p:cNvSpPr txBox="1"/>
          <p:nvPr/>
        </p:nvSpPr>
        <p:spPr>
          <a:xfrm>
            <a:off x="1010725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Frontend</a:t>
            </a:r>
            <a:endParaRPr b="1" sz="1800">
              <a:solidFill>
                <a:schemeClr val="lt2"/>
              </a:solidFill>
            </a:endParaRPr>
          </a:p>
        </p:txBody>
      </p:sp>
      <p:sp>
        <p:nvSpPr>
          <p:cNvPr id="200" name="Google Shape;200;p24"/>
          <p:cNvSpPr txBox="1"/>
          <p:nvPr/>
        </p:nvSpPr>
        <p:spPr>
          <a:xfrm>
            <a:off x="6303850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Database</a:t>
            </a:r>
            <a:endParaRPr b="1" sz="1800">
              <a:solidFill>
                <a:schemeClr val="lt2"/>
              </a:solidFill>
            </a:endParaRPr>
          </a:p>
        </p:txBody>
      </p:sp>
      <p:pic>
        <p:nvPicPr>
          <p:cNvPr id="201" name="Google Shape;201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7400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4"/>
          <p:cNvSpPr txBox="1"/>
          <p:nvPr/>
        </p:nvSpPr>
        <p:spPr>
          <a:xfrm>
            <a:off x="3657250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Backend</a:t>
            </a:r>
            <a:endParaRPr b="1" sz="1800">
              <a:solidFill>
                <a:schemeClr val="lt2"/>
              </a:solidFill>
            </a:endParaRPr>
          </a:p>
        </p:txBody>
      </p:sp>
      <p:pic>
        <p:nvPicPr>
          <p:cNvPr id="203" name="Google Shape;203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73607" y="2114437"/>
            <a:ext cx="914625" cy="9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5824" y="2114437"/>
            <a:ext cx="914625" cy="9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4"/>
          <p:cNvSpPr txBox="1"/>
          <p:nvPr/>
        </p:nvSpPr>
        <p:spPr>
          <a:xfrm>
            <a:off x="3657325" y="3486375"/>
            <a:ext cx="1829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</a:rPr>
              <a:t>Edge Functions</a:t>
            </a:r>
            <a:endParaRPr b="1" sz="1800">
              <a:solidFill>
                <a:srgbClr val="6AA84F"/>
              </a:solidFill>
            </a:endParaRPr>
          </a:p>
        </p:txBody>
      </p:sp>
      <p:sp>
        <p:nvSpPr>
          <p:cNvPr id="206" name="Google Shape;206;p24"/>
          <p:cNvSpPr txBox="1"/>
          <p:nvPr/>
        </p:nvSpPr>
        <p:spPr>
          <a:xfrm>
            <a:off x="4998438" y="65817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</a:rPr>
              <a:t>Supabase</a:t>
            </a:r>
            <a:endParaRPr b="1" sz="1800">
              <a:solidFill>
                <a:srgbClr val="6AA84F"/>
              </a:solidFill>
            </a:endParaRPr>
          </a:p>
        </p:txBody>
      </p:sp>
      <p:sp>
        <p:nvSpPr>
          <p:cNvPr id="207" name="Google Shape;207;p24"/>
          <p:cNvSpPr txBox="1"/>
          <p:nvPr/>
        </p:nvSpPr>
        <p:spPr>
          <a:xfrm>
            <a:off x="6370450" y="348637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</a:rPr>
              <a:t>PostgreSQL</a:t>
            </a:r>
            <a:endParaRPr b="1" sz="18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"/>
          <p:cNvSpPr/>
          <p:nvPr/>
        </p:nvSpPr>
        <p:spPr>
          <a:xfrm>
            <a:off x="6370450" y="488850"/>
            <a:ext cx="1762800" cy="4165800"/>
          </a:xfrm>
          <a:prstGeom prst="rect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13" name="Google Shape;21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800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3925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5"/>
          <p:cNvSpPr txBox="1"/>
          <p:nvPr/>
        </p:nvSpPr>
        <p:spPr>
          <a:xfrm>
            <a:off x="1010725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Frontend</a:t>
            </a:r>
            <a:endParaRPr b="1" sz="1800">
              <a:solidFill>
                <a:schemeClr val="lt2"/>
              </a:solidFill>
            </a:endParaRPr>
          </a:p>
        </p:txBody>
      </p:sp>
      <p:sp>
        <p:nvSpPr>
          <p:cNvPr id="216" name="Google Shape;216;p25"/>
          <p:cNvSpPr txBox="1"/>
          <p:nvPr/>
        </p:nvSpPr>
        <p:spPr>
          <a:xfrm>
            <a:off x="6303850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Database</a:t>
            </a:r>
            <a:endParaRPr b="1" sz="1800">
              <a:solidFill>
                <a:schemeClr val="lt2"/>
              </a:solidFill>
            </a:endParaRPr>
          </a:p>
        </p:txBody>
      </p:sp>
      <p:pic>
        <p:nvPicPr>
          <p:cNvPr id="217" name="Google Shape;21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7400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5"/>
          <p:cNvSpPr txBox="1"/>
          <p:nvPr/>
        </p:nvSpPr>
        <p:spPr>
          <a:xfrm>
            <a:off x="3657250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Backend</a:t>
            </a:r>
            <a:endParaRPr b="1" sz="1800">
              <a:solidFill>
                <a:schemeClr val="lt2"/>
              </a:solidFill>
            </a:endParaRPr>
          </a:p>
        </p:txBody>
      </p:sp>
      <p:pic>
        <p:nvPicPr>
          <p:cNvPr id="219" name="Google Shape;219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73607" y="2114437"/>
            <a:ext cx="914625" cy="9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5824" y="2114437"/>
            <a:ext cx="914625" cy="9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5"/>
          <p:cNvSpPr txBox="1"/>
          <p:nvPr/>
        </p:nvSpPr>
        <p:spPr>
          <a:xfrm>
            <a:off x="6337150" y="65817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4A86E8"/>
                </a:solidFill>
              </a:rPr>
              <a:t>MySQL</a:t>
            </a:r>
            <a:endParaRPr b="1" sz="1800">
              <a:solidFill>
                <a:srgbClr val="4A86E8"/>
              </a:solidFill>
            </a:endParaRPr>
          </a:p>
        </p:txBody>
      </p:sp>
      <p:sp>
        <p:nvSpPr>
          <p:cNvPr id="222" name="Google Shape;222;p25"/>
          <p:cNvSpPr txBox="1"/>
          <p:nvPr/>
        </p:nvSpPr>
        <p:spPr>
          <a:xfrm>
            <a:off x="6337150" y="348637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4A86E8"/>
                </a:solidFill>
              </a:rPr>
              <a:t>SQL</a:t>
            </a:r>
            <a:endParaRPr b="1" sz="1800"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"/>
          <p:cNvSpPr/>
          <p:nvPr/>
        </p:nvSpPr>
        <p:spPr>
          <a:xfrm>
            <a:off x="3657250" y="3552825"/>
            <a:ext cx="1829400" cy="14523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28" name="Google Shape;22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800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3925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6"/>
          <p:cNvSpPr txBox="1"/>
          <p:nvPr/>
        </p:nvSpPr>
        <p:spPr>
          <a:xfrm>
            <a:off x="1010725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Frontend</a:t>
            </a:r>
            <a:endParaRPr b="1" sz="1800">
              <a:solidFill>
                <a:schemeClr val="lt2"/>
              </a:solidFill>
            </a:endParaRPr>
          </a:p>
        </p:txBody>
      </p:sp>
      <p:sp>
        <p:nvSpPr>
          <p:cNvPr id="231" name="Google Shape;231;p26"/>
          <p:cNvSpPr txBox="1"/>
          <p:nvPr/>
        </p:nvSpPr>
        <p:spPr>
          <a:xfrm>
            <a:off x="6303850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Database</a:t>
            </a:r>
            <a:endParaRPr b="1" sz="1800">
              <a:solidFill>
                <a:schemeClr val="lt2"/>
              </a:solidFill>
            </a:endParaRPr>
          </a:p>
        </p:txBody>
      </p:sp>
      <p:pic>
        <p:nvPicPr>
          <p:cNvPr id="232" name="Google Shape;232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7400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6"/>
          <p:cNvSpPr txBox="1"/>
          <p:nvPr/>
        </p:nvSpPr>
        <p:spPr>
          <a:xfrm>
            <a:off x="3657250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Backend</a:t>
            </a:r>
            <a:endParaRPr b="1" sz="1800">
              <a:solidFill>
                <a:schemeClr val="lt2"/>
              </a:solidFill>
            </a:endParaRPr>
          </a:p>
        </p:txBody>
      </p:sp>
      <p:pic>
        <p:nvPicPr>
          <p:cNvPr id="234" name="Google Shape;234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73607" y="2114437"/>
            <a:ext cx="914625" cy="9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5824" y="2114437"/>
            <a:ext cx="914625" cy="9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6"/>
          <p:cNvSpPr txBox="1"/>
          <p:nvPr/>
        </p:nvSpPr>
        <p:spPr>
          <a:xfrm>
            <a:off x="3688225" y="3591150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9900"/>
                </a:solidFill>
              </a:rPr>
              <a:t>AWS</a:t>
            </a:r>
            <a:endParaRPr b="1" sz="1800">
              <a:solidFill>
                <a:srgbClr val="FF9900"/>
              </a:solidFill>
            </a:endParaRPr>
          </a:p>
        </p:txBody>
      </p:sp>
      <p:pic>
        <p:nvPicPr>
          <p:cNvPr id="237" name="Google Shape;237;p26"/>
          <p:cNvPicPr preferRelativeResize="0"/>
          <p:nvPr/>
        </p:nvPicPr>
        <p:blipFill rotWithShape="1">
          <a:blip r:embed="rId7">
            <a:alphaModFix/>
          </a:blip>
          <a:srcRect b="49995" l="0" r="0" t="4192"/>
          <a:stretch/>
        </p:blipFill>
        <p:spPr>
          <a:xfrm>
            <a:off x="3657325" y="4052850"/>
            <a:ext cx="1829251" cy="838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8" name="Google Shape;238;p26"/>
          <p:cNvCxnSpPr>
            <a:stCxn id="237" idx="3"/>
          </p:cNvCxnSpPr>
          <p:nvPr/>
        </p:nvCxnSpPr>
        <p:spPr>
          <a:xfrm flipH="1" rot="10800000">
            <a:off x="5486576" y="3486050"/>
            <a:ext cx="1095300" cy="9858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" name="Google Shape;239;p26"/>
          <p:cNvCxnSpPr>
            <a:stCxn id="237" idx="1"/>
          </p:cNvCxnSpPr>
          <p:nvPr/>
        </p:nvCxnSpPr>
        <p:spPr>
          <a:xfrm rot="10800000">
            <a:off x="2762125" y="3457550"/>
            <a:ext cx="895200" cy="10143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" name="Google Shape;240;p26"/>
          <p:cNvCxnSpPr/>
          <p:nvPr/>
        </p:nvCxnSpPr>
        <p:spPr>
          <a:xfrm flipH="1" rot="10800000">
            <a:off x="5089750" y="3207825"/>
            <a:ext cx="900" cy="3450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Learning New Things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6" name="Google Shape;24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There are a lot of different technologies you can learn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This class is just the start (remember the iceberg?)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Hopefully this isn’t overwhelming, as a programmer you will always continue to learn new things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Getting Experience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2" name="Google Shape;25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School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Internships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BYU On-Campus Student Jobs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Personal Projects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School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8" name="Google Shape;25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Obviously why we’re all here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IS Junior Core is fantastic, 10/10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recommend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School is great to introduce you to basics, but you’ll need to go beyond that to be competitive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Maybe don’t do a Masters? Great for the piece of paper, but you’ll get more valuable experience getting a job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Internships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4" name="Google Shape;26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Overrated (in my opinion)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Difficult to get, very competitive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Some aren’t as good at letting interns be fully hands 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Great for resume, learning might not be as valuable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The necessary evil of climbing the career ladder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BYU On-Campus Student Jobs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0" name="Google Shape;27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~15,000 student employees (2023)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You can learn a lot and don’t need a ton of experience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Helps get out of the endless “need experience” stage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Even related jobs like a TA can look great on a resume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https://hrs.byu.edu/student-jobs-home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Personal Projects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" name="Google Shape;27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By far the most valuable resource for gaining experience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Looks great on a resume and actually teaches you something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Reverse engineer things you want to make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Show, don’t tell employers who you are and what you can do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Great use case to have AI teach and help you with new things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My Experience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" name="Google Shape;282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IS Bachelors and MISM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internship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student jobs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Too many personal projects to count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My Experience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8" name="Google Shape;288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provided the most value for me?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0% Personal Projects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25% Student Jobs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25% Junior Core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Internships and college are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necessary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evils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Focus on things that will actually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teach you real skills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Resources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4" name="Google Shape;294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BYU Marriott / IS Career Center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AIS Slack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Ask questions about certain topics, skills to learn, talk to people slightly further down the path than you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Me (duh) and other IS students and graduates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Choosing a Career Path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0" name="Google Shape;300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Explore different options, don’t just stick with one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Whatever you decide you want to do, p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ick something you enjoy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Another reason why personal projects are great!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Don’t worry about money or other job factors, just pick something that you think is fun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AI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6" name="Google Shape;306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AI will change what your job looks like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The technology landscape will always change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Learn to use it as a tool, don’t let it replace your skills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The technical skills you learn now may not be applicable later, but they’re teaching you how to learn.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Pair Programming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2" name="Google Shape;312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Apple Nav Expand on Hover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https://www.apple.com/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Figma Auto Scroll Carousel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https://www.figma.com/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Rotating Title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https://tanneratkin.com/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Knowledge Check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8" name="Google Shape;318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https://forms.gle/5r3ujJwPWt2pqDsRA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