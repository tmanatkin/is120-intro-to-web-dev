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4" Type="http://schemas.openxmlformats.org/officeDocument/2006/relationships/slide" Target="slides/slide9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g3b2624e70d6_0_141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g3b2624e70d6_0_14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g3bb11784eaf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" name="Google Shape;58;g3bb11784eaf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g3b50fa36d9b_0_2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4" name="Google Shape;64;g3b50fa36d9b_0_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g3b59cd6b378_0_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0" name="Google Shape;70;g3b59cd6b378_0_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g3bad956f601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6" name="Google Shape;76;g3bad956f601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g3bad956f601_0_1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5" name="Google Shape;85;g3bad956f601_0_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g3bad956f601_0_1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1" name="Google Shape;91;g3bad956f601_0_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g3bad956f601_0_2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6" name="Google Shape;96;g3bad956f601_0_2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g3bad956f601_0_3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2" name="Google Shape;102;g3bad956f601_0_3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25"/>
            <a:ext cx="4572000" cy="51435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  <a:defRPr>
                <a:solidFill>
                  <a:schemeClr val="dk1"/>
                </a:solidFill>
              </a:defRPr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>
                <a:solidFill>
                  <a:schemeClr val="dk1"/>
                </a:solidFill>
              </a:defRPr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>
                <a:solidFill>
                  <a:schemeClr val="dk1"/>
                </a:solidFill>
              </a:defRPr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>
                <a:solidFill>
                  <a:schemeClr val="dk1"/>
                </a:solidFill>
              </a:defRPr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>
                <a:solidFill>
                  <a:schemeClr val="dk1"/>
                </a:solidFill>
              </a:defRPr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>
                <a:solidFill>
                  <a:schemeClr val="dk1"/>
                </a:solidFill>
              </a:defRPr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>
                <a:solidFill>
                  <a:schemeClr val="dk1"/>
                </a:solidFill>
              </a:defRPr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>
                <a:solidFill>
                  <a:schemeClr val="dk1"/>
                </a:solidFill>
              </a:defRPr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dark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Char char="●"/>
              <a:defRPr sz="1800">
                <a:solidFill>
                  <a:schemeClr val="lt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○"/>
              <a:defRPr>
                <a:solidFill>
                  <a:schemeClr val="lt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■"/>
              <a:defRPr>
                <a:solidFill>
                  <a:schemeClr val="lt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●"/>
              <a:defRPr>
                <a:solidFill>
                  <a:schemeClr val="lt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○"/>
              <a:defRPr>
                <a:solidFill>
                  <a:schemeClr val="lt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■"/>
              <a:defRPr>
                <a:solidFill>
                  <a:schemeClr val="lt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●"/>
              <a:defRPr>
                <a:solidFill>
                  <a:schemeClr val="lt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○"/>
              <a:defRPr>
                <a:solidFill>
                  <a:schemeClr val="lt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■"/>
              <a:defRPr>
                <a:solidFill>
                  <a:schemeClr val="lt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lt2"/>
                </a:solidFill>
              </a:defRPr>
            </a:lvl1pPr>
            <a:lvl2pPr lvl="1" algn="r">
              <a:buNone/>
              <a:defRPr sz="1000">
                <a:solidFill>
                  <a:schemeClr val="lt2"/>
                </a:solidFill>
              </a:defRPr>
            </a:lvl2pPr>
            <a:lvl3pPr lvl="2" algn="r">
              <a:buNone/>
              <a:defRPr sz="1000">
                <a:solidFill>
                  <a:schemeClr val="lt2"/>
                </a:solidFill>
              </a:defRPr>
            </a:lvl3pPr>
            <a:lvl4pPr lvl="3" algn="r">
              <a:buNone/>
              <a:defRPr sz="1000">
                <a:solidFill>
                  <a:schemeClr val="lt2"/>
                </a:solidFill>
              </a:defRPr>
            </a:lvl4pPr>
            <a:lvl5pPr lvl="4" algn="r">
              <a:buNone/>
              <a:defRPr sz="1000">
                <a:solidFill>
                  <a:schemeClr val="lt2"/>
                </a:solidFill>
              </a:defRPr>
            </a:lvl5pPr>
            <a:lvl6pPr lvl="5" algn="r">
              <a:buNone/>
              <a:defRPr sz="1000">
                <a:solidFill>
                  <a:schemeClr val="lt2"/>
                </a:solidFill>
              </a:defRPr>
            </a:lvl6pPr>
            <a:lvl7pPr lvl="6" algn="r">
              <a:buNone/>
              <a:defRPr sz="1000">
                <a:solidFill>
                  <a:schemeClr val="lt2"/>
                </a:solidFill>
              </a:defRPr>
            </a:lvl7pPr>
            <a:lvl8pPr lvl="7" algn="r">
              <a:buNone/>
              <a:defRPr sz="1000">
                <a:solidFill>
                  <a:schemeClr val="lt2"/>
                </a:solidFill>
              </a:defRPr>
            </a:lvl8pPr>
            <a:lvl9pPr lvl="8" algn="r">
              <a:buNone/>
              <a:defRPr sz="1000">
                <a:solidFill>
                  <a:schemeClr val="lt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3.png"/><Relationship Id="rId4" Type="http://schemas.openxmlformats.org/officeDocument/2006/relationships/image" Target="../media/image4.png"/><Relationship Id="rId5" Type="http://schemas.openxmlformats.org/officeDocument/2006/relationships/image" Target="../media/image5.png"/><Relationship Id="rId6" Type="http://schemas.openxmlformats.org/officeDocument/2006/relationships/image" Target="../media/image2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IS 120</a:t>
            </a:r>
            <a:endParaRPr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55" name="Google Shape;55;p13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Git and GitHub</a:t>
            </a:r>
            <a:endParaRPr>
              <a:latin typeface="Consolas"/>
              <a:ea typeface="Consolas"/>
              <a:cs typeface="Consolas"/>
              <a:sym typeface="Consolas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Announcements</a:t>
            </a:r>
            <a:endParaRPr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61" name="Google Shape;61;p1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Font typeface="Consolas"/>
              <a:buChar char="-"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HW 3 is up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-342900" lvl="1" marL="914400" rtl="0" algn="l">
              <a:spcBef>
                <a:spcPts val="1000"/>
              </a:spcBef>
              <a:spcAft>
                <a:spcPts val="0"/>
              </a:spcAft>
              <a:buSzPts val="1800"/>
              <a:buFont typeface="Consolas"/>
              <a:buChar char="-"/>
            </a:pPr>
            <a:r>
              <a:rPr lang="en" sz="1800">
                <a:latin typeface="Consolas"/>
                <a:ea typeface="Consolas"/>
                <a:cs typeface="Consolas"/>
                <a:sym typeface="Consolas"/>
              </a:rPr>
              <a:t>Almost all assignments from now on we will use GitHub</a:t>
            </a:r>
            <a:endParaRPr sz="1800">
              <a:latin typeface="Consolas"/>
              <a:ea typeface="Consolas"/>
              <a:cs typeface="Consolas"/>
              <a:sym typeface="Consolas"/>
            </a:endParaRPr>
          </a:p>
          <a:p>
            <a:pPr indent="-342900" lvl="0" marL="457200" rtl="0" algn="l">
              <a:spcBef>
                <a:spcPts val="1000"/>
              </a:spcBef>
              <a:spcAft>
                <a:spcPts val="0"/>
              </a:spcAft>
              <a:buSzPts val="1800"/>
              <a:buFont typeface="Consolas"/>
              <a:buChar char="-"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Class survey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-342900" lvl="0" marL="457200" rtl="0" algn="l">
              <a:spcBef>
                <a:spcPts val="1000"/>
              </a:spcBef>
              <a:spcAft>
                <a:spcPts val="1000"/>
              </a:spcAft>
              <a:buSzPts val="1800"/>
              <a:buFont typeface="Consolas"/>
              <a:buChar char="-"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Slack</a:t>
            </a:r>
            <a:endParaRPr>
              <a:latin typeface="Consolas"/>
              <a:ea typeface="Consolas"/>
              <a:cs typeface="Consolas"/>
              <a:sym typeface="Consolas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What is Git?</a:t>
            </a:r>
            <a:endParaRPr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67" name="Google Shape;67;p15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Font typeface="Consolas"/>
              <a:buChar char="-"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A version control system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-342900" lvl="1" marL="914400" rtl="0" algn="l">
              <a:spcBef>
                <a:spcPts val="1000"/>
              </a:spcBef>
              <a:spcAft>
                <a:spcPts val="0"/>
              </a:spcAft>
              <a:buSzPts val="1800"/>
              <a:buFont typeface="Consolas"/>
              <a:buChar char="-"/>
            </a:pPr>
            <a:r>
              <a:rPr lang="en" sz="1800">
                <a:latin typeface="Consolas"/>
                <a:ea typeface="Consolas"/>
                <a:cs typeface="Consolas"/>
                <a:sym typeface="Consolas"/>
              </a:rPr>
              <a:t>See history</a:t>
            </a:r>
            <a:endParaRPr sz="1800">
              <a:latin typeface="Consolas"/>
              <a:ea typeface="Consolas"/>
              <a:cs typeface="Consolas"/>
              <a:sym typeface="Consolas"/>
            </a:endParaRPr>
          </a:p>
          <a:p>
            <a:pPr indent="-342900" lvl="1" marL="914400" rtl="0" algn="l">
              <a:spcBef>
                <a:spcPts val="1000"/>
              </a:spcBef>
              <a:spcAft>
                <a:spcPts val="0"/>
              </a:spcAft>
              <a:buSzPts val="1800"/>
              <a:buFont typeface="Consolas"/>
              <a:buChar char="-"/>
            </a:pPr>
            <a:r>
              <a:rPr lang="en" sz="1800">
                <a:latin typeface="Consolas"/>
                <a:ea typeface="Consolas"/>
                <a:cs typeface="Consolas"/>
                <a:sym typeface="Consolas"/>
              </a:rPr>
              <a:t>Undo mistakes</a:t>
            </a:r>
            <a:endParaRPr sz="1800">
              <a:latin typeface="Consolas"/>
              <a:ea typeface="Consolas"/>
              <a:cs typeface="Consolas"/>
              <a:sym typeface="Consolas"/>
            </a:endParaRPr>
          </a:p>
          <a:p>
            <a:pPr indent="-342900" lvl="1" marL="914400" rtl="0" algn="l">
              <a:spcBef>
                <a:spcPts val="1000"/>
              </a:spcBef>
              <a:spcAft>
                <a:spcPts val="0"/>
              </a:spcAft>
              <a:buSzPts val="1800"/>
              <a:buFont typeface="Consolas"/>
              <a:buChar char="-"/>
            </a:pPr>
            <a:r>
              <a:rPr lang="en" sz="1800">
                <a:latin typeface="Consolas"/>
                <a:ea typeface="Consolas"/>
                <a:cs typeface="Consolas"/>
                <a:sym typeface="Consolas"/>
              </a:rPr>
              <a:t>Collaborate safely</a:t>
            </a:r>
            <a:endParaRPr sz="1800">
              <a:latin typeface="Consolas"/>
              <a:ea typeface="Consolas"/>
              <a:cs typeface="Consolas"/>
              <a:sym typeface="Consolas"/>
            </a:endParaRPr>
          </a:p>
          <a:p>
            <a:pPr indent="-342900" lvl="1" marL="914400" rtl="0" algn="l">
              <a:spcBef>
                <a:spcPts val="1000"/>
              </a:spcBef>
              <a:spcAft>
                <a:spcPts val="0"/>
              </a:spcAft>
              <a:buSzPts val="1800"/>
              <a:buFont typeface="Consolas"/>
              <a:buChar char="-"/>
            </a:pPr>
            <a:r>
              <a:rPr lang="en" sz="1800">
                <a:latin typeface="Consolas"/>
                <a:ea typeface="Consolas"/>
                <a:cs typeface="Consolas"/>
                <a:sym typeface="Consolas"/>
              </a:rPr>
              <a:t>Branch and experiment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-342900" lvl="0" marL="457200" rtl="0" algn="l">
              <a:spcBef>
                <a:spcPts val="1000"/>
              </a:spcBef>
              <a:spcAft>
                <a:spcPts val="1000"/>
              </a:spcAft>
              <a:buSzPts val="1800"/>
              <a:buFont typeface="Consolas"/>
              <a:buChar char="-"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It is </a:t>
            </a:r>
            <a:r>
              <a:rPr b="1" lang="en" u="sng">
                <a:latin typeface="Consolas"/>
                <a:ea typeface="Consolas"/>
                <a:cs typeface="Consolas"/>
                <a:sym typeface="Consolas"/>
              </a:rPr>
              <a:t>very</a:t>
            </a:r>
            <a:r>
              <a:rPr lang="en">
                <a:latin typeface="Consolas"/>
                <a:ea typeface="Consolas"/>
                <a:cs typeface="Consolas"/>
                <a:sym typeface="Consolas"/>
              </a:rPr>
              <a:t> popular and widely used</a:t>
            </a:r>
            <a:endParaRPr>
              <a:latin typeface="Consolas"/>
              <a:ea typeface="Consolas"/>
              <a:cs typeface="Consolas"/>
              <a:sym typeface="Consolas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1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What is GitHub?</a:t>
            </a:r>
            <a:endParaRPr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73" name="Google Shape;73;p1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Font typeface="Consolas"/>
              <a:buChar char="-"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A Git platform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-342900" lvl="1" marL="914400" rtl="0" algn="l">
              <a:spcBef>
                <a:spcPts val="1000"/>
              </a:spcBef>
              <a:spcAft>
                <a:spcPts val="0"/>
              </a:spcAft>
              <a:buSzPts val="1800"/>
              <a:buFont typeface="Consolas"/>
              <a:buChar char="-"/>
            </a:pPr>
            <a:r>
              <a:rPr lang="en" sz="1800">
                <a:latin typeface="Consolas"/>
                <a:ea typeface="Consolas"/>
                <a:cs typeface="Consolas"/>
                <a:sym typeface="Consolas"/>
              </a:rPr>
              <a:t>Hosts your repository</a:t>
            </a:r>
            <a:endParaRPr sz="1800">
              <a:latin typeface="Consolas"/>
              <a:ea typeface="Consolas"/>
              <a:cs typeface="Consolas"/>
              <a:sym typeface="Consolas"/>
            </a:endParaRPr>
          </a:p>
          <a:p>
            <a:pPr indent="-342900" lvl="1" marL="914400" rtl="0" algn="l">
              <a:spcBef>
                <a:spcPts val="1000"/>
              </a:spcBef>
              <a:spcAft>
                <a:spcPts val="0"/>
              </a:spcAft>
              <a:buSzPts val="1800"/>
              <a:buFont typeface="Consolas"/>
              <a:buChar char="-"/>
            </a:pPr>
            <a:r>
              <a:rPr lang="en" sz="1800">
                <a:latin typeface="Consolas"/>
                <a:ea typeface="Consolas"/>
                <a:cs typeface="Consolas"/>
                <a:sym typeface="Consolas"/>
              </a:rPr>
              <a:t>Use Git features to see history and manage versions</a:t>
            </a:r>
            <a:endParaRPr sz="1800">
              <a:latin typeface="Consolas"/>
              <a:ea typeface="Consolas"/>
              <a:cs typeface="Consolas"/>
              <a:sym typeface="Consolas"/>
            </a:endParaRPr>
          </a:p>
          <a:p>
            <a:pPr indent="-342900" lvl="1" marL="914400" rtl="0" algn="l">
              <a:spcBef>
                <a:spcPts val="1000"/>
              </a:spcBef>
              <a:spcAft>
                <a:spcPts val="0"/>
              </a:spcAft>
              <a:buSzPts val="1800"/>
              <a:buFont typeface="Consolas"/>
              <a:buChar char="-"/>
            </a:pPr>
            <a:r>
              <a:rPr lang="en" sz="1800">
                <a:latin typeface="Consolas"/>
                <a:ea typeface="Consolas"/>
                <a:cs typeface="Consolas"/>
                <a:sym typeface="Consolas"/>
              </a:rPr>
              <a:t>Easy static website hosting with GitHub Pages</a:t>
            </a:r>
            <a:endParaRPr sz="1800">
              <a:latin typeface="Consolas"/>
              <a:ea typeface="Consolas"/>
              <a:cs typeface="Consolas"/>
              <a:sym typeface="Consolas"/>
            </a:endParaRPr>
          </a:p>
          <a:p>
            <a:pPr indent="-342900" lvl="1" marL="914400" rtl="0" algn="l">
              <a:spcBef>
                <a:spcPts val="1000"/>
              </a:spcBef>
              <a:spcAft>
                <a:spcPts val="1000"/>
              </a:spcAft>
              <a:buSzPts val="1800"/>
              <a:buFont typeface="Consolas"/>
              <a:buChar char="-"/>
            </a:pPr>
            <a:r>
              <a:rPr lang="en" sz="1800">
                <a:latin typeface="Consolas"/>
                <a:ea typeface="Consolas"/>
                <a:cs typeface="Consolas"/>
                <a:sym typeface="Consolas"/>
              </a:rPr>
              <a:t>Lots of other cool features like GitHub Actions</a:t>
            </a:r>
            <a:endParaRPr sz="1800">
              <a:latin typeface="Consolas"/>
              <a:ea typeface="Consolas"/>
              <a:cs typeface="Consolas"/>
              <a:sym typeface="Consolas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1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Git Platforms</a:t>
            </a:r>
            <a:endParaRPr>
              <a:latin typeface="Consolas"/>
              <a:ea typeface="Consolas"/>
              <a:cs typeface="Consolas"/>
              <a:sym typeface="Consolas"/>
            </a:endParaRPr>
          </a:p>
        </p:txBody>
      </p:sp>
      <p:pic>
        <p:nvPicPr>
          <p:cNvPr id="79" name="Google Shape;79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196900" y="2759413"/>
            <a:ext cx="1661925" cy="1822249"/>
          </a:xfrm>
          <a:prstGeom prst="rect">
            <a:avLst/>
          </a:prstGeom>
          <a:noFill/>
          <a:ln>
            <a:noFill/>
          </a:ln>
        </p:spPr>
      </p:pic>
      <p:pic>
        <p:nvPicPr>
          <p:cNvPr id="80" name="Google Shape;80;p1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30225" y="3804027"/>
            <a:ext cx="4545376" cy="649850"/>
          </a:xfrm>
          <a:prstGeom prst="rect">
            <a:avLst/>
          </a:prstGeom>
          <a:noFill/>
          <a:ln>
            <a:noFill/>
          </a:ln>
        </p:spPr>
      </p:pic>
      <p:pic>
        <p:nvPicPr>
          <p:cNvPr id="81" name="Google Shape;81;p17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957225" y="1274438"/>
            <a:ext cx="3793300" cy="1297300"/>
          </a:xfrm>
          <a:prstGeom prst="rect">
            <a:avLst/>
          </a:prstGeom>
          <a:noFill/>
          <a:ln>
            <a:noFill/>
          </a:ln>
        </p:spPr>
      </p:pic>
      <p:pic>
        <p:nvPicPr>
          <p:cNvPr id="82" name="Google Shape;82;p17" title="github.png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1077200" y="1274450"/>
            <a:ext cx="1899725" cy="18997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1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What is a repository?</a:t>
            </a:r>
            <a:endParaRPr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88" name="Google Shape;88;p18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Font typeface="Consolas"/>
              <a:buChar char="-"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A container for your project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-342900" lvl="0" marL="457200" rtl="0" algn="l">
              <a:spcBef>
                <a:spcPts val="1000"/>
              </a:spcBef>
              <a:spcAft>
                <a:spcPts val="0"/>
              </a:spcAft>
              <a:buSzPts val="1800"/>
              <a:buFont typeface="Consolas"/>
              <a:buChar char="-"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Includes all versions (branches) of your project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-342900" lvl="0" marL="457200" rtl="0" algn="l">
              <a:spcBef>
                <a:spcPts val="1000"/>
              </a:spcBef>
              <a:spcAft>
                <a:spcPts val="0"/>
              </a:spcAft>
              <a:buSzPts val="1800"/>
              <a:buFont typeface="Consolas"/>
              <a:buChar char="-"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Often </a:t>
            </a:r>
            <a:r>
              <a:rPr lang="en">
                <a:latin typeface="Consolas"/>
                <a:ea typeface="Consolas"/>
                <a:cs typeface="Consolas"/>
                <a:sym typeface="Consolas"/>
              </a:rPr>
              <a:t>referred</a:t>
            </a:r>
            <a:r>
              <a:rPr lang="en">
                <a:latin typeface="Consolas"/>
                <a:ea typeface="Consolas"/>
                <a:cs typeface="Consolas"/>
                <a:sym typeface="Consolas"/>
              </a:rPr>
              <a:t> to as a repo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-342900" lvl="0" marL="457200" rtl="0" algn="l">
              <a:spcBef>
                <a:spcPts val="1000"/>
              </a:spcBef>
              <a:spcAft>
                <a:spcPts val="0"/>
              </a:spcAft>
              <a:buSzPts val="1800"/>
              <a:buFont typeface="Consolas"/>
              <a:buChar char="-"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Let’s go make one</a:t>
            </a:r>
            <a:endParaRPr>
              <a:latin typeface="Consolas"/>
              <a:ea typeface="Consolas"/>
              <a:cs typeface="Consolas"/>
              <a:sym typeface="Consolas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3" name="Google Shape;93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01038" y="152400"/>
            <a:ext cx="7741920" cy="4838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2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Git Branches</a:t>
            </a:r>
            <a:endParaRPr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99" name="Google Shape;99;p20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Font typeface="Consolas"/>
              <a:buChar char="-"/>
            </a:pPr>
            <a:r>
              <a:rPr lang="en" sz="1800">
                <a:latin typeface="Consolas"/>
                <a:ea typeface="Consolas"/>
                <a:cs typeface="Consolas"/>
                <a:sym typeface="Consolas"/>
              </a:rPr>
              <a:t>How different versions of your project are stored</a:t>
            </a:r>
            <a:endParaRPr sz="1800">
              <a:latin typeface="Consolas"/>
              <a:ea typeface="Consolas"/>
              <a:cs typeface="Consolas"/>
              <a:sym typeface="Consolas"/>
            </a:endParaRPr>
          </a:p>
          <a:p>
            <a:pPr indent="-342900" lvl="0" marL="457200" rtl="0" algn="l">
              <a:spcBef>
                <a:spcPts val="1000"/>
              </a:spcBef>
              <a:spcAft>
                <a:spcPts val="0"/>
              </a:spcAft>
              <a:buSzPts val="1800"/>
              <a:buFont typeface="Consolas"/>
              <a:buChar char="-"/>
            </a:pPr>
            <a:r>
              <a:rPr lang="en" sz="1800">
                <a:latin typeface="Consolas"/>
                <a:ea typeface="Consolas"/>
                <a:cs typeface="Consolas"/>
                <a:sym typeface="Consolas"/>
              </a:rPr>
              <a:t>View different branches using git checkout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-342900" lvl="0" marL="457200" rtl="0" algn="l">
              <a:spcBef>
                <a:spcPts val="1000"/>
              </a:spcBef>
              <a:spcAft>
                <a:spcPts val="0"/>
              </a:spcAft>
              <a:buSzPts val="1800"/>
              <a:buFont typeface="Consolas"/>
              <a:buChar char="-"/>
            </a:pPr>
            <a:r>
              <a:rPr lang="en" sz="1800">
                <a:latin typeface="Consolas"/>
                <a:ea typeface="Consolas"/>
                <a:cs typeface="Consolas"/>
                <a:sym typeface="Consolas"/>
              </a:rPr>
              <a:t>Traditional branch</a:t>
            </a:r>
            <a:r>
              <a:rPr lang="en">
                <a:latin typeface="Consolas"/>
                <a:ea typeface="Consolas"/>
                <a:cs typeface="Consolas"/>
                <a:sym typeface="Consolas"/>
              </a:rPr>
              <a:t>es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-342900" lvl="1" marL="914400" rtl="0" algn="l">
              <a:spcBef>
                <a:spcPts val="1000"/>
              </a:spcBef>
              <a:spcAft>
                <a:spcPts val="0"/>
              </a:spcAft>
              <a:buSzPts val="1800"/>
              <a:buFont typeface="Consolas"/>
              <a:buChar char="-"/>
            </a:pPr>
            <a:r>
              <a:rPr lang="en" sz="1800">
                <a:latin typeface="Consolas"/>
                <a:ea typeface="Consolas"/>
                <a:cs typeface="Consolas"/>
                <a:sym typeface="Consolas"/>
              </a:rPr>
              <a:t>main (master)</a:t>
            </a:r>
            <a:endParaRPr sz="1800">
              <a:latin typeface="Consolas"/>
              <a:ea typeface="Consolas"/>
              <a:cs typeface="Consolas"/>
              <a:sym typeface="Consolas"/>
            </a:endParaRPr>
          </a:p>
          <a:p>
            <a:pPr indent="-342900" lvl="1" marL="914400" rtl="0" algn="l">
              <a:spcBef>
                <a:spcPts val="1000"/>
              </a:spcBef>
              <a:spcAft>
                <a:spcPts val="0"/>
              </a:spcAft>
              <a:buSzPts val="1800"/>
              <a:buFont typeface="Consolas"/>
              <a:buChar char="-"/>
            </a:pPr>
            <a:r>
              <a:rPr lang="en" sz="1800">
                <a:latin typeface="Consolas"/>
                <a:ea typeface="Consolas"/>
                <a:cs typeface="Consolas"/>
                <a:sym typeface="Consolas"/>
              </a:rPr>
              <a:t>dev</a:t>
            </a:r>
            <a:endParaRPr sz="1800">
              <a:latin typeface="Consolas"/>
              <a:ea typeface="Consolas"/>
              <a:cs typeface="Consolas"/>
              <a:sym typeface="Consolas"/>
            </a:endParaRPr>
          </a:p>
          <a:p>
            <a:pPr indent="-342900" lvl="1" marL="914400" rtl="0" algn="l">
              <a:spcBef>
                <a:spcPts val="1000"/>
              </a:spcBef>
              <a:spcAft>
                <a:spcPts val="0"/>
              </a:spcAft>
              <a:buSzPts val="1800"/>
              <a:buFont typeface="Consolas"/>
              <a:buChar char="-"/>
            </a:pPr>
            <a:r>
              <a:rPr lang="en" sz="1800">
                <a:latin typeface="Consolas"/>
                <a:ea typeface="Consolas"/>
                <a:cs typeface="Consolas"/>
                <a:sym typeface="Consolas"/>
              </a:rPr>
              <a:t>feature/name</a:t>
            </a:r>
            <a:endParaRPr sz="1800">
              <a:latin typeface="Consolas"/>
              <a:ea typeface="Consolas"/>
              <a:cs typeface="Consolas"/>
              <a:sym typeface="Consolas"/>
            </a:endParaRPr>
          </a:p>
          <a:p>
            <a:pPr indent="-342900" lvl="1" marL="914400" rtl="0" algn="l">
              <a:spcBef>
                <a:spcPts val="1000"/>
              </a:spcBef>
              <a:spcAft>
                <a:spcPts val="1000"/>
              </a:spcAft>
              <a:buSzPts val="1800"/>
              <a:buFont typeface="Consolas"/>
              <a:buChar char="-"/>
            </a:pPr>
            <a:r>
              <a:rPr lang="en" sz="1800">
                <a:latin typeface="Consolas"/>
                <a:ea typeface="Consolas"/>
                <a:cs typeface="Consolas"/>
                <a:sym typeface="Consolas"/>
              </a:rPr>
              <a:t>bug/name</a:t>
            </a:r>
            <a:endParaRPr>
              <a:latin typeface="Consolas"/>
              <a:ea typeface="Consolas"/>
              <a:cs typeface="Consolas"/>
              <a:sym typeface="Consolas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2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Git Pull Request (PR)</a:t>
            </a:r>
            <a:endParaRPr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05" name="Google Shape;105;p2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Font typeface="Consolas"/>
              <a:buChar char="-"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A request to implement changes from one branch to another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-342900" lvl="0" marL="457200" rtl="0" algn="l">
              <a:spcBef>
                <a:spcPts val="1000"/>
              </a:spcBef>
              <a:spcAft>
                <a:spcPts val="0"/>
              </a:spcAft>
              <a:buSzPts val="1800"/>
              <a:buFont typeface="Consolas"/>
              <a:buChar char="-"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“Pull” sounds a little backwards, think of someone pulling your changes into their branch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-342900" lvl="0" marL="457200" rtl="0" algn="l">
              <a:spcBef>
                <a:spcPts val="1000"/>
              </a:spcBef>
              <a:spcAft>
                <a:spcPts val="0"/>
              </a:spcAft>
              <a:buSzPts val="1800"/>
              <a:buFont typeface="Consolas"/>
              <a:buChar char="-"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PRs usually have automated tests and a manual approval process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-342900" lvl="0" marL="457200" rtl="0" algn="l">
              <a:spcBef>
                <a:spcPts val="1000"/>
              </a:spcBef>
              <a:spcAft>
                <a:spcPts val="1000"/>
              </a:spcAft>
              <a:buSzPts val="1800"/>
              <a:buFont typeface="Consolas"/>
              <a:buChar char="-"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This is a term you will hear </a:t>
            </a:r>
            <a:r>
              <a:rPr b="1" lang="en" u="sng">
                <a:latin typeface="Consolas"/>
                <a:ea typeface="Consolas"/>
                <a:cs typeface="Consolas"/>
                <a:sym typeface="Consolas"/>
              </a:rPr>
              <a:t>a lot</a:t>
            </a:r>
            <a:r>
              <a:rPr lang="en">
                <a:latin typeface="Consolas"/>
                <a:ea typeface="Consolas"/>
                <a:cs typeface="Consolas"/>
                <a:sym typeface="Consolas"/>
              </a:rPr>
              <a:t> in industry</a:t>
            </a:r>
            <a:endParaRPr>
              <a:latin typeface="Consolas"/>
              <a:ea typeface="Consolas"/>
              <a:cs typeface="Consolas"/>
              <a:sym typeface="Consolas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Dark">
  <a:themeElements>
    <a:clrScheme name="Simple Dark">
      <a:dk1>
        <a:srgbClr val="FFFFFF"/>
      </a:dk1>
      <a:lt1>
        <a:srgbClr val="212121"/>
      </a:lt1>
      <a:dk2>
        <a:srgbClr val="303030"/>
      </a:dk2>
      <a:lt2>
        <a:srgbClr val="ADADAD"/>
      </a:lt2>
      <a:accent1>
        <a:srgbClr val="009688"/>
      </a:accent1>
      <a:accent2>
        <a:srgbClr val="EEEEEE"/>
      </a:accent2>
      <a:accent3>
        <a:srgbClr val="78909C"/>
      </a:accent3>
      <a:accent4>
        <a:srgbClr val="FFAB40"/>
      </a:accent4>
      <a:accent5>
        <a:srgbClr val="4DD0E1"/>
      </a:accent5>
      <a:accent6>
        <a:srgbClr val="EEFF41"/>
      </a:accent6>
      <a:hlink>
        <a:srgbClr val="4DD0E1"/>
      </a:hlink>
      <a:folHlink>
        <a:srgbClr val="4DD0E1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